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0c725e3-be9b-3445-0003-0c8005acfb87}">
          <p14:sldIdLst>
            <p14:sldId id="256"/>
            <p14:sldId id="257"/>
          </p14:sldIdLst>
        </p14:section>
        <p14:section name="01 The bottom line" id="{4ae1f930-0d61-0530-3887-39f230fd6af2}">
          <p14:sldIdLst>
            <p14:sldId id="258"/>
          </p14:sldIdLst>
        </p14:section>
        <p14:section name="02 The pipeline" id="{e0cda5d2-7f85-42b0-817b-3eca149aae51}">
          <p14:sldIdLst>
            <p14:sldId id="259"/>
            <p14:sldId id="260"/>
          </p14:sldIdLst>
        </p14:section>
        <p14:section name="03 Where it leaks" id="{a8ab7642-a8c8-95e7-b9a3-d7ea3f6b5103}">
          <p14:sldIdLst>
            <p14:sldId id="261"/>
            <p14:sldId id="262"/>
            <p14:sldId id="263"/>
            <p14:sldId id="264"/>
            <p14:sldId id="265"/>
          </p14:sldIdLst>
        </p14:section>
        <p14:section name="04 The market" id="{2d8749eb-e0f2-eabe-65e3-cc4bc6b123cb}">
          <p14:sldIdLst>
            <p14:sldId id="266"/>
            <p14:sldId id="267"/>
            <p14:sldId id="268"/>
          </p14:sldIdLst>
        </p14:section>
        <p14:section name="05 What to do" id="{5c9c1063-6351-f84a-1907-6c126a001056}">
          <p14:sldIdLst>
            <p14:sldId id="269"/>
            <p14:sldId id="270"/>
            <p14:sldId id="271"/>
          </p14:sldIdLst>
        </p14:section>
        <p14:section name="Appendix" id="{d81f9e12-3240-3132-76c5-ed7dd937790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</c:v>
                </c:pt>
              </c:strCache>
            </c:strRef>
          </c:tx>
          <c:spPr>
            <a:solidFill>
              <a:srgbClr val="45BA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Offer rate</c:v>
                  </c:pt>
                  <c:pt idx="1">
                    <c:v>Made unconditional</c:v>
                  </c:pt>
                  <c:pt idx="2">
                    <c:v>Enrolled of unconditional</c:v>
                  </c:pt>
                  <c:pt idx="3">
                    <c:v>Overall conversion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76.2</c:v>
                </c:pt>
                <c:pt idx="1">
                  <c:v>66.6</c:v>
                </c:pt>
                <c:pt idx="2">
                  <c:v>40.9</c:v>
                </c:pt>
                <c:pt idx="3">
                  <c:v>20.8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Overseas</c:v>
                </c:pt>
              </c:strCache>
            </c:strRef>
          </c:tx>
          <c:spPr>
            <a:solidFill>
              <a:srgbClr val="28272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Offer rate</c:v>
                  </c:pt>
                  <c:pt idx="1">
                    <c:v>Made unconditional</c:v>
                  </c:pt>
                  <c:pt idx="2">
                    <c:v>Enrolled of unconditional</c:v>
                  </c:pt>
                  <c:pt idx="3">
                    <c:v>Overall conversion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58.7</c:v>
                </c:pt>
                <c:pt idx="1">
                  <c:v>52.2</c:v>
                </c:pt>
                <c:pt idx="2">
                  <c:v>29.5</c:v>
                </c:pt>
                <c:pt idx="3">
                  <c:v>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827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AFA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6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4A464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 reported</c:v>
                </c:pt>
              </c:strCache>
            </c:strRef>
          </c:tx>
          <c:spPr>
            <a:solidFill>
              <a:srgbClr val="B9AFA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School C</c:v>
                  </c:pt>
                  <c:pt idx="1">
                    <c:v>School D</c:v>
                  </c:pt>
                  <c:pt idx="2">
                    <c:v>School E</c:v>
                  </c:pt>
                  <c:pt idx="3">
                    <c:v>School A</c:v>
                  </c:pt>
                  <c:pt idx="4">
                    <c:v>School 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13.1</c:v>
                </c:pt>
                <c:pt idx="2">
                  <c:v>13</c:v>
                </c:pt>
                <c:pt idx="3">
                  <c:v>12.4</c:v>
                </c:pt>
                <c:pt idx="4">
                  <c:v>11.8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Like-for-like (excl. PGCE)</c:v>
                </c:pt>
              </c:strCache>
            </c:strRef>
          </c:tx>
          <c:spPr>
            <a:solidFill>
              <a:srgbClr val="45BA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School C</c:v>
                  </c:pt>
                  <c:pt idx="1">
                    <c:v>School D</c:v>
                  </c:pt>
                  <c:pt idx="2">
                    <c:v>School E</c:v>
                  </c:pt>
                  <c:pt idx="3">
                    <c:v>School A</c:v>
                  </c:pt>
                  <c:pt idx="4">
                    <c:v>School 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16.5</c:v>
                </c:pt>
                <c:pt idx="1">
                  <c:v>13.1</c:v>
                </c:pt>
                <c:pt idx="2">
                  <c:v>13</c:v>
                </c:pt>
                <c:pt idx="3">
                  <c:v>12.4</c:v>
                </c:pt>
                <c:pt idx="4">
                  <c:v>11.8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827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AFA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6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4A464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Tail: five or fewer</c:v>
                </c:pt>
              </c:strCache>
            </c:strRef>
          </c:tx>
          <c:spPr>
            <a:solidFill>
              <a:srgbClr val="FD5D76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 (0%)</c:v>
                  </c:pt>
                  <c:pt idx="1">
                    <c:v>1 to 5 (6%)</c:v>
                  </c:pt>
                  <c:pt idx="2">
                    <c:v>6 to 20 (26%)</c:v>
                  </c:pt>
                  <c:pt idx="3">
                    <c:v>21 to 50 (30%)</c:v>
                  </c:pt>
                  <c:pt idx="4">
                    <c:v>51 to 100 (20%)</c:v>
                  </c:pt>
                  <c:pt idx="5">
                    <c:v>Over 100 (17%)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178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</c:v>
                </c:pt>
              </c:strCache>
            </c:strRef>
          </c:tx>
          <c:spPr>
            <a:solidFill>
              <a:srgbClr val="B9AFA9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 (0%)</c:v>
                  </c:pt>
                  <c:pt idx="1">
                    <c:v>1 to 5 (6%)</c:v>
                  </c:pt>
                  <c:pt idx="2">
                    <c:v>6 to 20 (26%)</c:v>
                  </c:pt>
                  <c:pt idx="3">
                    <c:v>21 to 50 (30%)</c:v>
                  </c:pt>
                  <c:pt idx="4">
                    <c:v>51 to 100 (20%)</c:v>
                  </c:pt>
                  <c:pt idx="5">
                    <c:v>Over 100 (17%)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170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Core: over 20</c:v>
                </c:pt>
              </c:strCache>
            </c:strRef>
          </c:tx>
          <c:spPr>
            <a:solidFill>
              <a:srgbClr val="45BABD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 (0%)</c:v>
                  </c:pt>
                  <c:pt idx="1">
                    <c:v>1 to 5 (6%)</c:v>
                  </c:pt>
                  <c:pt idx="2">
                    <c:v>6 to 20 (26%)</c:v>
                  </c:pt>
                  <c:pt idx="3">
                    <c:v>21 to 50 (30%)</c:v>
                  </c:pt>
                  <c:pt idx="4">
                    <c:v>51 to 100 (20%)</c:v>
                  </c:pt>
                  <c:pt idx="5">
                    <c:v>Over 100 (17%)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70</c:v>
                </c:pt>
                <c:pt idx="4">
                  <c:v>20</c:v>
                </c:pt>
                <c:pt idx="5">
                  <c:v>6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900" u="none">
                  <a:solidFill>
                    <a:srgbClr val="282727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AFA9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46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4A464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 A total</c:v>
                </c:pt>
              </c:strCache>
            </c:strRef>
          </c:tx>
          <c:spPr>
            <a:solidFill>
              <a:srgbClr val="282727"/>
            </a:solidFill>
            <a:ln w="31750" cap="flat">
              <a:solidFill>
                <a:srgbClr val="2827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82727"/>
              </a:solidFill>
              <a:ln w="9525" cap="flat">
                <a:solidFill>
                  <a:srgbClr val="2827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18/19</c:v>
                  </c:pt>
                  <c:pt idx="1">
                    <c:v>19/20</c:v>
                  </c:pt>
                  <c:pt idx="2">
                    <c:v>20/21</c:v>
                  </c:pt>
                  <c:pt idx="3">
                    <c:v>21/22</c:v>
                  </c:pt>
                  <c:pt idx="4">
                    <c:v>22/23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112</c:v>
                </c:pt>
                <c:pt idx="2">
                  <c:v>128</c:v>
                </c:pt>
                <c:pt idx="3">
                  <c:v>151</c:v>
                </c:pt>
                <c:pt idx="4">
                  <c:v>161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Sector total</c:v>
                </c:pt>
              </c:strCache>
            </c:strRef>
          </c:tx>
          <c:spPr>
            <a:solidFill>
              <a:srgbClr val="B9AFA9"/>
            </a:solidFill>
            <a:ln w="31750" cap="flat">
              <a:solidFill>
                <a:srgbClr val="B9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AFA9"/>
              </a:solidFill>
              <a:ln w="9525" cap="flat">
                <a:solidFill>
                  <a:srgbClr val="B9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18/19</c:v>
                  </c:pt>
                  <c:pt idx="1">
                    <c:v>19/20</c:v>
                  </c:pt>
                  <c:pt idx="2">
                    <c:v>20/21</c:v>
                  </c:pt>
                  <c:pt idx="3">
                    <c:v>21/22</c:v>
                  </c:pt>
                  <c:pt idx="4">
                    <c:v>22/23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103</c:v>
                </c:pt>
                <c:pt idx="2">
                  <c:v>112</c:v>
                </c:pt>
                <c:pt idx="3">
                  <c:v>116</c:v>
                </c:pt>
                <c:pt idx="4">
                  <c:v>120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UNI A home</c:v>
                </c:pt>
              </c:strCache>
            </c:strRef>
          </c:tx>
          <c:spPr>
            <a:solidFill>
              <a:srgbClr val="45BABD"/>
            </a:solidFill>
            <a:ln w="31750" cap="flat">
              <a:solidFill>
                <a:srgbClr val="45BA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5BABD"/>
              </a:solidFill>
              <a:ln w="9525" cap="flat">
                <a:solidFill>
                  <a:srgbClr val="45BA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18/19</c:v>
                  </c:pt>
                  <c:pt idx="1">
                    <c:v>19/20</c:v>
                  </c:pt>
                  <c:pt idx="2">
                    <c:v>20/21</c:v>
                  </c:pt>
                  <c:pt idx="3">
                    <c:v>21/22</c:v>
                  </c:pt>
                  <c:pt idx="4">
                    <c:v>22/23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99</c:v>
                </c:pt>
                <c:pt idx="2">
                  <c:v>102</c:v>
                </c:pt>
                <c:pt idx="3">
                  <c:v>108</c:v>
                </c:pt>
                <c:pt idx="4">
                  <c:v>102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Sector home</c:v>
                </c:pt>
              </c:strCache>
            </c:strRef>
          </c:tx>
          <c:spPr>
            <a:solidFill>
              <a:srgbClr val="9FD9DB"/>
            </a:solidFill>
            <a:ln w="31750" cap="flat">
              <a:solidFill>
                <a:srgbClr val="9FD9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FD9DB"/>
              </a:solidFill>
              <a:ln w="9525" cap="flat">
                <a:solidFill>
                  <a:srgbClr val="9FD9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18/19</c:v>
                  </c:pt>
                  <c:pt idx="1">
                    <c:v>19/20</c:v>
                  </c:pt>
                  <c:pt idx="2">
                    <c:v>20/21</c:v>
                  </c:pt>
                  <c:pt idx="3">
                    <c:v>21/22</c:v>
                  </c:pt>
                  <c:pt idx="4">
                    <c:v>22/23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100</c:v>
                </c:pt>
                <c:pt idx="1">
                  <c:v>101</c:v>
                </c:pt>
                <c:pt idx="2">
                  <c:v>110</c:v>
                </c:pt>
                <c:pt idx="3">
                  <c:v>111</c:v>
                </c:pt>
                <c:pt idx="4">
                  <c:v>111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82727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AFA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6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90"/>
        </c:scaling>
        <c:delete val="0"/>
        <c:axPos val="l"/>
        <c:majorGridlines>
          <c:spPr>
            <a:ln w="9525" cap="flat">
              <a:solidFill>
                <a:srgbClr val="E4DA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464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</c:v>
                </c:pt>
              </c:strCache>
            </c:strRef>
          </c:tx>
          <c:spPr>
            <a:solidFill>
              <a:srgbClr val="45BA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18/19 (11%)</c:v>
                  </c:pt>
                  <c:pt idx="1">
                    <c:v>19/20 (22%)</c:v>
                  </c:pt>
                  <c:pt idx="2">
                    <c:v>20/21 (30%)</c:v>
                  </c:pt>
                  <c:pt idx="3">
                    <c:v>21/22 (38%)</c:v>
                  </c:pt>
                  <c:pt idx="4">
                    <c:v>22/23 (45%)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11.9</c:v>
                </c:pt>
                <c:pt idx="1">
                  <c:v>11.8</c:v>
                </c:pt>
                <c:pt idx="2">
                  <c:v>12.1</c:v>
                </c:pt>
                <c:pt idx="3">
                  <c:v>12.9</c:v>
                </c:pt>
                <c:pt idx="4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Non-EU</c:v>
                </c:pt>
              </c:strCache>
            </c:strRef>
          </c:tx>
          <c:spPr>
            <a:solidFill>
              <a:srgbClr val="FD5D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18/19 (11%)</c:v>
                  </c:pt>
                  <c:pt idx="1">
                    <c:v>19/20 (22%)</c:v>
                  </c:pt>
                  <c:pt idx="2">
                    <c:v>20/21 (30%)</c:v>
                  </c:pt>
                  <c:pt idx="3">
                    <c:v>21/22 (38%)</c:v>
                  </c:pt>
                  <c:pt idx="4">
                    <c:v>22/23 (45%)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1.5</c:v>
                </c:pt>
                <c:pt idx="1">
                  <c:v>3.4</c:v>
                </c:pt>
                <c:pt idx="2">
                  <c:v>5.3</c:v>
                </c:pt>
                <c:pt idx="3">
                  <c:v>8</c:v>
                </c:pt>
                <c:pt idx="4">
                  <c:v>10.2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</c:v>
                </c:pt>
              </c:strCache>
            </c:strRef>
          </c:tx>
          <c:spPr>
            <a:solidFill>
              <a:srgbClr val="B9A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18/19 (11%)</c:v>
                  </c:pt>
                  <c:pt idx="1">
                    <c:v>19/20 (22%)</c:v>
                  </c:pt>
                  <c:pt idx="2">
                    <c:v>20/21 (30%)</c:v>
                  </c:pt>
                  <c:pt idx="3">
                    <c:v>21/22 (38%)</c:v>
                  </c:pt>
                  <c:pt idx="4">
                    <c:v>22/23 (45%)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0.5</c:v>
                </c:pt>
                <c:pt idx="2">
                  <c:v>0.5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82727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AFA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6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4DA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464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 A</c:v>
                </c:pt>
              </c:strCache>
            </c:strRef>
          </c:tx>
          <c:spPr>
            <a:solidFill>
              <a:srgbClr val="282727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Overall</c:v>
                  </c:pt>
                  <c:pt idx="1">
                    <c:v>Home</c:v>
                  </c:pt>
                  <c:pt idx="2">
                    <c:v>EU</c:v>
                  </c:pt>
                  <c:pt idx="3">
                    <c:v>Non-EU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-6</c:v>
                </c:pt>
                <c:pt idx="2">
                  <c:v>-44</c:v>
                </c:pt>
                <c:pt idx="3">
                  <c:v>27.9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Sector</c:v>
                </c:pt>
              </c:strCache>
            </c:strRef>
          </c:tx>
          <c:spPr>
            <a:solidFill>
              <a:srgbClr val="B9AFA9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7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Overall</c:v>
                  </c:pt>
                  <c:pt idx="1">
                    <c:v>Home</c:v>
                  </c:pt>
                  <c:pt idx="2">
                    <c:v>EU</c:v>
                  </c:pt>
                  <c:pt idx="3">
                    <c:v>Non-EU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-0.3</c:v>
                </c:pt>
                <c:pt idx="2">
                  <c:v>-20.5</c:v>
                </c:pt>
                <c:pt idx="3">
                  <c:v>19.5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900" u="none">
                  <a:solidFill>
                    <a:srgbClr val="2827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AFA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6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-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464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UK</c:v>
                </c:pt>
              </c:strCache>
            </c:strRef>
          </c:tx>
          <c:spPr>
            <a:solidFill>
              <a:srgbClr val="282727"/>
            </a:solidFill>
            <a:effectLst/>
          </c:spPr>
          <c:invertIfNegative val="0"/>
          <c:dLbls>
            <c:numFmt formatCode="[&gt;=5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BF8F5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UG · UNI A</c:v>
                  </c:pt>
                  <c:pt idx="1">
                    <c:v>UG · Sector</c:v>
                  </c:pt>
                  <c:pt idx="2">
                    <c:v>PG · UNI A</c:v>
                  </c:pt>
                  <c:pt idx="3">
                    <c:v>PG · Sector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83</c:v>
                </c:pt>
                <c:pt idx="2">
                  <c:v>24</c:v>
                </c:pt>
                <c:pt idx="3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</c:v>
                </c:pt>
              </c:strCache>
            </c:strRef>
          </c:tx>
          <c:spPr>
            <a:solidFill>
              <a:srgbClr val="F1E967"/>
            </a:solidFill>
            <a:effectLst/>
          </c:spPr>
          <c:invertIfNegative val="0"/>
          <c:dLbls>
            <c:numFmt formatCode="[&gt;=5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BF8F5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UG · UNI A</c:v>
                  </c:pt>
                  <c:pt idx="1">
                    <c:v>UG · Sector</c:v>
                  </c:pt>
                  <c:pt idx="2">
                    <c:v>PG · UNI A</c:v>
                  </c:pt>
                  <c:pt idx="3">
                    <c:v>PG · Sector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Non-EU</c:v>
                </c:pt>
              </c:strCache>
            </c:strRef>
          </c:tx>
          <c:spPr>
            <a:solidFill>
              <a:srgbClr val="45BABD"/>
            </a:solidFill>
            <a:effectLst/>
          </c:spPr>
          <c:invertIfNegative val="0"/>
          <c:dLbls>
            <c:numFmt formatCode="[&gt;=5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BF8F5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UG · UNI A</c:v>
                  </c:pt>
                  <c:pt idx="1">
                    <c:v>UG · Sector</c:v>
                  </c:pt>
                  <c:pt idx="2">
                    <c:v>PG · UNI A</c:v>
                  </c:pt>
                  <c:pt idx="3">
                    <c:v>PG · Sector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</c:v>
                </c:pt>
                <c:pt idx="1">
                  <c:v>13</c:v>
                </c:pt>
                <c:pt idx="2">
                  <c:v>75</c:v>
                </c:pt>
                <c:pt idx="3">
                  <c:v>67</c:v>
                </c:pt>
              </c:numCache>
            </c:numRef>
          </c:val>
        </c:ser>
        <c:dLbls>
          <c:numFmt formatCode="[&gt;=5]0&quot;%&quot;;&quot;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BF8F5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AFA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6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4A464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D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Muhammad Mustafa Ajmal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8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A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muhammadmustafa-data.github.io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334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45B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STRATEGY PORTFOLIO · CASE STUDY</a:t>
            </a:r>
            <a:endParaRPr lang="en-US" sz="1300" dirty="0"/>
          </a:p>
        </p:txBody>
      </p:sp>
      <p:sp>
        <p:nvSpPr>
          <p:cNvPr id="3" name="Tag"/>
          <p:cNvSpPr/>
          <p:nvPr/>
        </p:nvSpPr>
        <p:spPr>
          <a:xfrm>
            <a:off x="914400" y="1295400"/>
            <a:ext cx="2295525" cy="228600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2954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AND STRATEGY PACK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383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BF8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Organisational Strategy Use Case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43150"/>
            <a:ext cx="1047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5BA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pipeline data to portfolio decisions</a:t>
            </a:r>
            <a:endParaRPr lang="en-US" sz="2800" dirty="0"/>
          </a:p>
        </p:txBody>
      </p:sp>
      <p:sp>
        <p:nvSpPr>
          <p:cNvPr id="7" name="Cover rule"/>
          <p:cNvSpPr/>
          <p:nvPr/>
        </p:nvSpPr>
        <p:spPr>
          <a:xfrm>
            <a:off x="914400" y="2933700"/>
            <a:ext cx="1905000" cy="3810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813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is the final layer of an end-to-end insight pack.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takes one anonymised admissions dataset from raw data, through a Power BI dashboard, to analysis, recommendations and organisational strategy. A focused showcase of working across the whole pipeline: from data to decisions.</a:t>
            </a:r>
            <a:endParaRPr lang="en-US" sz="1400" dirty="0"/>
          </a:p>
        </p:txBody>
      </p:sp>
      <p:sp>
        <p:nvSpPr>
          <p:cNvPr id="9" name="Pack step"/>
          <p:cNvSpPr/>
          <p:nvPr/>
        </p:nvSpPr>
        <p:spPr>
          <a:xfrm>
            <a:off x="914400" y="4343400"/>
            <a:ext cx="2552700" cy="609600"/>
          </a:xfrm>
          <a:prstGeom prst="rect">
            <a:avLst/>
          </a:prstGeom>
          <a:solidFill>
            <a:srgbClr val="282727"/>
          </a:solidFill>
          <a:ln w="9525">
            <a:solidFill>
              <a:srgbClr val="5F5A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7750" y="4343400"/>
            <a:ext cx="38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5BA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6850" y="434340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raw data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67100" y="4343400"/>
            <a:ext cx="30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Pack step"/>
          <p:cNvSpPr/>
          <p:nvPr/>
        </p:nvSpPr>
        <p:spPr>
          <a:xfrm>
            <a:off x="3771900" y="4343400"/>
            <a:ext cx="2552700" cy="609600"/>
          </a:xfrm>
          <a:prstGeom prst="rect">
            <a:avLst/>
          </a:prstGeom>
          <a:solidFill>
            <a:srgbClr val="282727"/>
          </a:solidFill>
          <a:ln w="9525">
            <a:solidFill>
              <a:srgbClr val="5F5A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05250" y="4343400"/>
            <a:ext cx="38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5BA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324350" y="434340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4600" y="4343400"/>
            <a:ext cx="30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Pack step"/>
          <p:cNvSpPr/>
          <p:nvPr/>
        </p:nvSpPr>
        <p:spPr>
          <a:xfrm>
            <a:off x="6629400" y="4343400"/>
            <a:ext cx="2552700" cy="609600"/>
          </a:xfrm>
          <a:prstGeom prst="rect">
            <a:avLst/>
          </a:prstGeom>
          <a:solidFill>
            <a:srgbClr val="3A3837"/>
          </a:solidFill>
          <a:ln w="9525">
            <a:solidFill>
              <a:srgbClr val="5F5A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2750" y="4343400"/>
            <a:ext cx="38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81850" y="434340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and strategy deck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5010150"/>
            <a:ext cx="2552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60960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D5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Muhammad Mustafa Ajmal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96000" y="6115050"/>
            <a:ext cx="5181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3C7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anonymised: institution shown as UNI A, schools as A to 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A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1724025" cy="2286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DISCUSSION</a:t>
            </a:r>
            <a:endParaRPr lang="en-US" sz="8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Contents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477500" y="1638300"/>
            <a:ext cx="1181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33400" y="1828800"/>
            <a:ext cx="11125200" cy="0"/>
          </a:xfrm>
          <a:prstGeom prst="line">
            <a:avLst/>
          </a:prstGeom>
          <a:noFill/>
          <a:ln w="19050">
            <a:solidFill>
              <a:srgbClr val="2827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3400" y="19431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64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28750" y="19431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bottom line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334000" y="19431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 on a page: five findings and what follows.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0" y="194310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3400" y="2667000"/>
            <a:ext cx="11125200" cy="0"/>
          </a:xfrm>
          <a:prstGeom prst="line">
            <a:avLst/>
          </a:prstGeom>
          <a:noFill/>
          <a:ln w="9525">
            <a:solidFill>
              <a:srgbClr val="D3C7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3400" y="27813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64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428750" y="27813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pipeline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334000" y="27813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62,180 applicants to 7,415 enrolments, stage by stage.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477500" y="278130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3400" y="3505200"/>
            <a:ext cx="11125200" cy="0"/>
          </a:xfrm>
          <a:prstGeom prst="line">
            <a:avLst/>
          </a:prstGeom>
          <a:noFill/>
          <a:ln w="9525">
            <a:solidFill>
              <a:srgbClr val="D3C7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3400" y="36195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64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428750" y="36195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it leaks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34000" y="36195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status, level, school and course portfolio.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477500" y="361950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3400" y="4343400"/>
            <a:ext cx="11125200" cy="0"/>
          </a:xfrm>
          <a:prstGeom prst="line">
            <a:avLst/>
          </a:prstGeom>
          <a:noFill/>
          <a:ln w="9525">
            <a:solidFill>
              <a:srgbClr val="D3C7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3400" y="44577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64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428750" y="44577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market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334000" y="44577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UNI A is growing against the sector, from HESA data.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477500" y="445770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3400" y="5181600"/>
            <a:ext cx="11125200" cy="0"/>
          </a:xfrm>
          <a:prstGeom prst="line">
            <a:avLst/>
          </a:prstGeom>
          <a:noFill/>
          <a:ln w="9525">
            <a:solidFill>
              <a:srgbClr val="D3C7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3400" y="52959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64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1428750" y="52959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to do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334000" y="52959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moves, how to measure them, and the risks to watch.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477500" y="529590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14-17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3400" y="6019800"/>
            <a:ext cx="11125200" cy="0"/>
          </a:xfrm>
          <a:prstGeom prst="line">
            <a:avLst/>
          </a:prstGeom>
          <a:noFill/>
          <a:ln w="9525">
            <a:solidFill>
              <a:srgbClr val="D3C7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Portfolio Dashboard 2024/25 snapshot and HESA open data, 2018/19 to 2022/23</a:t>
            </a:r>
            <a:endParaRPr lang="en-US" sz="900" dirty="0"/>
          </a:p>
        </p:txBody>
      </p:sp>
      <p:sp>
        <p:nvSpPr>
          <p:cNvPr id="33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1476375" cy="2286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BOTTOM LINE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Demand is not the problem. Conversion after the offer is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applicant in eight enrols. The loss sits after the offer and in overseas recruitment, and headline averages hide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 · Admissions Portfolio Dashboard 2024/25 · HESA 2021/22 to 2022/23 · like-for-like excludes unassessed fee status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533400" y="1447800"/>
            <a:ext cx="2133600" cy="8763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6750" y="15621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66750" y="17335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62,180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66750" y="20955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2024/25 cycle snapshot</a:t>
            </a:r>
            <a:endParaRPr lang="en-US" sz="900" dirty="0"/>
          </a:p>
        </p:txBody>
      </p:sp>
      <p:sp>
        <p:nvSpPr>
          <p:cNvPr id="17" name="Card"/>
          <p:cNvSpPr/>
          <p:nvPr/>
        </p:nvSpPr>
        <p:spPr>
          <a:xfrm>
            <a:off x="2781300" y="1447800"/>
            <a:ext cx="2133600" cy="8763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14650" y="15621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RATE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914650" y="17335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63.6%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2914650" y="20955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39,533 offers</a:t>
            </a:r>
            <a:endParaRPr lang="en-US" sz="900" dirty="0"/>
          </a:p>
        </p:txBody>
      </p:sp>
      <p:sp>
        <p:nvSpPr>
          <p:cNvPr id="21" name="Card"/>
          <p:cNvSpPr/>
          <p:nvPr/>
        </p:nvSpPr>
        <p:spPr>
          <a:xfrm>
            <a:off x="5029200" y="1447800"/>
            <a:ext cx="2133600" cy="8763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62550" y="15621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UNCONDITIONAL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162550" y="17335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56.4%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162550" y="20955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offers · 22,311</a:t>
            </a:r>
            <a:endParaRPr lang="en-US" sz="900" dirty="0"/>
          </a:p>
        </p:txBody>
      </p:sp>
      <p:sp>
        <p:nvSpPr>
          <p:cNvPr id="25" name="Card"/>
          <p:cNvSpPr/>
          <p:nvPr/>
        </p:nvSpPr>
        <p:spPr>
          <a:xfrm>
            <a:off x="7277100" y="1447800"/>
            <a:ext cx="2133600" cy="8763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10450" y="15621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OF UNCONDITIONAL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10450" y="17335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33.2%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410450" y="20955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weakest stage</a:t>
            </a:r>
            <a:endParaRPr lang="en-US" sz="900" dirty="0"/>
          </a:p>
        </p:txBody>
      </p:sp>
      <p:sp>
        <p:nvSpPr>
          <p:cNvPr id="29" name="Card"/>
          <p:cNvSpPr/>
          <p:nvPr/>
        </p:nvSpPr>
        <p:spPr>
          <a:xfrm>
            <a:off x="9525000" y="1447800"/>
            <a:ext cx="2133600" cy="8763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58350" y="15621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CONVERSION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658350" y="17335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11.9%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9658350" y="20955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7,415 enrolled · 12.7% like-for-like</a:t>
            </a:r>
            <a:endParaRPr lang="en-US" sz="900" dirty="0"/>
          </a:p>
        </p:txBody>
      </p:sp>
      <p:sp>
        <p:nvSpPr>
          <p:cNvPr id="33" name="Card"/>
          <p:cNvSpPr/>
          <p:nvPr/>
        </p:nvSpPr>
        <p:spPr>
          <a:xfrm>
            <a:off x="533400" y="2457450"/>
            <a:ext cx="7048500" cy="35242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4850" y="25908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FINDINGS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4850" y="2857500"/>
            <a:ext cx="228600" cy="228600"/>
          </a:xfrm>
          <a:prstGeom prst="ellipse">
            <a:avLst/>
          </a:prstGeom>
          <a:solidFill>
            <a:srgbClr val="282727"/>
          </a:solidFill>
          <a:ln w="12700">
            <a:solidFill>
              <a:srgbClr val="28272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850" y="2857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66800" y="2838450"/>
            <a:ext cx="6343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 fills the funnel, home fills the seats.</a:t>
            </a:r>
            <a:pPr indent="0" marL="0">
              <a:buNone/>
            </a:pPr>
            <a:r>
              <a:rPr lang="en-US" sz="11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Overseas is 64% of applicants but 49% of enrolments, and falls behind at every stage.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04850" y="3467100"/>
            <a:ext cx="228600" cy="228600"/>
          </a:xfrm>
          <a:prstGeom prst="ellipse">
            <a:avLst/>
          </a:prstGeom>
          <a:solidFill>
            <a:srgbClr val="282727"/>
          </a:solidFill>
          <a:ln w="12700">
            <a:solidFill>
              <a:srgbClr val="28272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4850" y="3467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66800" y="3448050"/>
            <a:ext cx="6343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PG gap is an overseas gap.</a:t>
            </a:r>
            <a:pPr indent="0" marL="0">
              <a:buNone/>
            </a:pPr>
            <a:r>
              <a:rPr lang="en-US" sz="11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Home postgraduates convert at 21.2%, ahead of home undergraduates (20.6%). Overseas PG converts at 8.2%.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4850" y="4076700"/>
            <a:ext cx="228600" cy="228600"/>
          </a:xfrm>
          <a:prstGeom prst="ellipse">
            <a:avLst/>
          </a:prstGeom>
          <a:solidFill>
            <a:srgbClr val="282727"/>
          </a:solidFill>
          <a:ln w="12700">
            <a:solidFill>
              <a:srgbClr val="2827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4850" y="4076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66800" y="4057650"/>
            <a:ext cx="6343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school league table flips like-for-like.</a:t>
            </a:r>
            <a:pPr indent="0" marL="0">
              <a:buNone/>
            </a:pPr>
            <a:r>
              <a:rPr lang="en-US" sz="11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PGCE courses carry 11% of applicants at 3.1% conversion. Without them, School C goes from lowest (10.0%) to highest (16.5%).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04850" y="4686300"/>
            <a:ext cx="228600" cy="228600"/>
          </a:xfrm>
          <a:prstGeom prst="ellipse">
            <a:avLst/>
          </a:prstGeom>
          <a:solidFill>
            <a:srgbClr val="282727"/>
          </a:solidFill>
          <a:ln w="12700">
            <a:solidFill>
              <a:srgbClr val="28272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4850" y="4686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66800" y="4667250"/>
            <a:ext cx="6343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core carries the portfolio.</a:t>
            </a:r>
            <a:pPr indent="0" marL="0">
              <a:buNone/>
            </a:pPr>
            <a:r>
              <a:rPr lang="en-US" sz="11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48 of 535 courses deliver half of all enrolments; 269 enrol five or fewer.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04850" y="5295900"/>
            <a:ext cx="228600" cy="228600"/>
          </a:xfrm>
          <a:prstGeom prst="ellipse">
            <a:avLst/>
          </a:prstGeom>
          <a:solidFill>
            <a:srgbClr val="282727"/>
          </a:solidFill>
          <a:ln w="12700">
            <a:solidFill>
              <a:srgbClr val="28272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4850" y="5295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66800" y="5276850"/>
            <a:ext cx="6343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rests on one market.</a:t>
            </a:r>
            <a:pPr indent="0" marL="0">
              <a:buNone/>
            </a:pPr>
            <a:r>
              <a:rPr lang="en-US" sz="11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 A outgrew the sector (+6.0% vs +2.8%) on non-EU demand while home (-6.0%) and EU (-44%) fell faster than the market.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7772400" y="24955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FOLLOWS</a:t>
            </a:r>
            <a:endParaRPr lang="en-US" sz="850" dirty="0"/>
          </a:p>
        </p:txBody>
      </p:sp>
      <p:sp>
        <p:nvSpPr>
          <p:cNvPr id="51" name="Card"/>
          <p:cNvSpPr/>
          <p:nvPr/>
        </p:nvSpPr>
        <p:spPr>
          <a:xfrm>
            <a:off x="7772400" y="2705100"/>
            <a:ext cx="3886200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52" name="Marker"/>
          <p:cNvSpPr/>
          <p:nvPr/>
        </p:nvSpPr>
        <p:spPr>
          <a:xfrm>
            <a:off x="7924800" y="2838450"/>
            <a:ext cx="95250" cy="9525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15300" y="2809875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7924800" y="299085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overseas post-offer gap</a:t>
            </a:r>
            <a:endParaRPr lang="en-US" sz="1200" dirty="0"/>
          </a:p>
        </p:txBody>
      </p:sp>
      <p:sp>
        <p:nvSpPr>
          <p:cNvPr id="55" name="Card"/>
          <p:cNvSpPr/>
          <p:nvPr/>
        </p:nvSpPr>
        <p:spPr>
          <a:xfrm>
            <a:off x="7772400" y="3371850"/>
            <a:ext cx="3886200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56" name="Marker"/>
          <p:cNvSpPr/>
          <p:nvPr/>
        </p:nvSpPr>
        <p:spPr>
          <a:xfrm>
            <a:off x="7924800" y="3505200"/>
            <a:ext cx="95250" cy="9525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15300" y="3476625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7924800" y="365760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overseas PG conversion</a:t>
            </a:r>
            <a:endParaRPr lang="en-US" sz="1200" dirty="0"/>
          </a:p>
        </p:txBody>
      </p:sp>
      <p:sp>
        <p:nvSpPr>
          <p:cNvPr id="59" name="Card"/>
          <p:cNvSpPr/>
          <p:nvPr/>
        </p:nvSpPr>
        <p:spPr>
          <a:xfrm>
            <a:off x="7772400" y="4038600"/>
            <a:ext cx="3886200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60" name="Marker"/>
          <p:cNvSpPr/>
          <p:nvPr/>
        </p:nvSpPr>
        <p:spPr>
          <a:xfrm>
            <a:off x="7924800" y="4171950"/>
            <a:ext cx="95250" cy="95250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115300" y="4143375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7924800" y="432435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schools like-for-like</a:t>
            </a:r>
            <a:endParaRPr lang="en-US" sz="1200" dirty="0"/>
          </a:p>
        </p:txBody>
      </p:sp>
      <p:sp>
        <p:nvSpPr>
          <p:cNvPr id="63" name="Card"/>
          <p:cNvSpPr/>
          <p:nvPr/>
        </p:nvSpPr>
        <p:spPr>
          <a:xfrm>
            <a:off x="7772400" y="4705350"/>
            <a:ext cx="3886200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64" name="Marker"/>
          <p:cNvSpPr/>
          <p:nvPr/>
        </p:nvSpPr>
        <p:spPr>
          <a:xfrm>
            <a:off x="7924800" y="4838700"/>
            <a:ext cx="95250" cy="95250"/>
          </a:xfrm>
          <a:prstGeom prst="rect">
            <a:avLst/>
          </a:prstGeom>
          <a:solidFill>
            <a:srgbClr val="A357BC"/>
          </a:solidFill>
          <a:ln w="9525">
            <a:solidFill>
              <a:srgbClr val="A357B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115300" y="4810125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E2D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7924800" y="499110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Rationalise the long tail</a:t>
            </a:r>
            <a:endParaRPr lang="en-US" sz="1200" dirty="0"/>
          </a:p>
        </p:txBody>
      </p:sp>
      <p:sp>
        <p:nvSpPr>
          <p:cNvPr id="67" name="Card"/>
          <p:cNvSpPr/>
          <p:nvPr/>
        </p:nvSpPr>
        <p:spPr>
          <a:xfrm>
            <a:off x="7772400" y="5372100"/>
            <a:ext cx="3886200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68" name="Marker"/>
          <p:cNvSpPr/>
          <p:nvPr/>
        </p:nvSpPr>
        <p:spPr>
          <a:xfrm>
            <a:off x="7924800" y="5505450"/>
            <a:ext cx="95250" cy="9525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115300" y="5476875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7924800" y="565785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home and part-time demand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0750"/>
            <a:ext cx="2571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45BA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Text 1"/>
          <p:cNvSpPr txBox="1"/>
          <p:nvPr/>
        </p:nvSpPr>
        <p:spPr>
          <a:xfrm>
            <a:off x="3429000" y="245745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APPLICATION TO ENROLMENT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667000"/>
            <a:ext cx="800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BF8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pipeline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3467100"/>
            <a:ext cx="800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62,180 applicants to 7,415 enrolments, stage by stage.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8100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1200" dirty="0"/>
          </a:p>
        </p:txBody>
      </p:sp>
      <p:sp>
        <p:nvSpPr>
          <p:cNvPr id="7" name="Tracker"/>
          <p:cNvSpPr/>
          <p:nvPr/>
        </p:nvSpPr>
        <p:spPr>
          <a:xfrm>
            <a:off x="68580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Bottom line</a:t>
            </a:r>
            <a:endParaRPr lang="en-US" sz="1100" dirty="0"/>
          </a:p>
        </p:txBody>
      </p:sp>
      <p:sp>
        <p:nvSpPr>
          <p:cNvPr id="9" name="Tracker"/>
          <p:cNvSpPr/>
          <p:nvPr/>
        </p:nvSpPr>
        <p:spPr>
          <a:xfrm>
            <a:off x="2876550" y="5715000"/>
            <a:ext cx="2076450" cy="47625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655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pipeline</a:t>
            </a:r>
            <a:endParaRPr lang="en-US" sz="1100" dirty="0"/>
          </a:p>
        </p:txBody>
      </p:sp>
      <p:sp>
        <p:nvSpPr>
          <p:cNvPr id="11" name="Tracker"/>
          <p:cNvSpPr/>
          <p:nvPr/>
        </p:nvSpPr>
        <p:spPr>
          <a:xfrm>
            <a:off x="5067300" y="5715000"/>
            <a:ext cx="2076450" cy="47625"/>
          </a:xfrm>
          <a:prstGeom prst="rect">
            <a:avLst/>
          </a:prstGeom>
          <a:solidFill>
            <a:srgbClr val="4A4644"/>
          </a:solidFill>
          <a:ln w="9525">
            <a:solidFill>
              <a:srgbClr val="4A46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673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Where it leaks</a:t>
            </a:r>
            <a:endParaRPr lang="en-US" sz="1100" dirty="0"/>
          </a:p>
        </p:txBody>
      </p:sp>
      <p:sp>
        <p:nvSpPr>
          <p:cNvPr id="13" name="Tracker"/>
          <p:cNvSpPr/>
          <p:nvPr/>
        </p:nvSpPr>
        <p:spPr>
          <a:xfrm>
            <a:off x="7258050" y="5715000"/>
            <a:ext cx="2076450" cy="47625"/>
          </a:xfrm>
          <a:prstGeom prst="rect">
            <a:avLst/>
          </a:prstGeom>
          <a:solidFill>
            <a:srgbClr val="4A4644"/>
          </a:solidFill>
          <a:ln w="9525">
            <a:solidFill>
              <a:srgbClr val="4A46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805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market</a:t>
            </a:r>
            <a:endParaRPr lang="en-US" sz="1100" dirty="0"/>
          </a:p>
        </p:txBody>
      </p:sp>
      <p:sp>
        <p:nvSpPr>
          <p:cNvPr id="15" name="Tracker"/>
          <p:cNvSpPr/>
          <p:nvPr/>
        </p:nvSpPr>
        <p:spPr>
          <a:xfrm>
            <a:off x="9448800" y="5715000"/>
            <a:ext cx="2076450" cy="47625"/>
          </a:xfrm>
          <a:prstGeom prst="rect">
            <a:avLst/>
          </a:prstGeom>
          <a:solidFill>
            <a:srgbClr val="4A4644"/>
          </a:solidFill>
          <a:ln w="9525">
            <a:solidFill>
              <a:srgbClr val="4A46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488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What to do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Muhammad Mustafa Ajmal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A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1228725" cy="2286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PIPELINE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Most of the loss happens after an unconditional offer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two in three applicants get an offer, but two in three unconditional offer-holders still do not enrol.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· Admissions Portfolio Dashboard 2024/25 snapshot · conditional offers may still convert after the snapshot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533400" y="1447800"/>
            <a:ext cx="6667500" cy="45339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00" y="15811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TO ENROLMENTS, 2024/25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581150"/>
            <a:ext cx="2438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length = share of applicants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23900" y="19240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3900" y="209550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8" name="Funnel bar"/>
          <p:cNvSpPr/>
          <p:nvPr/>
        </p:nvSpPr>
        <p:spPr>
          <a:xfrm>
            <a:off x="2190750" y="1885950"/>
            <a:ext cx="3810000" cy="3810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96000" y="188595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62,180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190750" y="2362200"/>
            <a:ext cx="438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63.6% receive an offer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3900" y="28575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3900" y="302895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63.6%</a:t>
            </a:r>
            <a:endParaRPr lang="en-US" sz="900" dirty="0"/>
          </a:p>
        </p:txBody>
      </p:sp>
      <p:sp>
        <p:nvSpPr>
          <p:cNvPr id="23" name="Funnel bar unconditional"/>
          <p:cNvSpPr/>
          <p:nvPr/>
        </p:nvSpPr>
        <p:spPr>
          <a:xfrm>
            <a:off x="2190750" y="2819400"/>
            <a:ext cx="1371600" cy="3810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24" name="Funnel bar conditional"/>
          <p:cNvSpPr/>
          <p:nvPr/>
        </p:nvSpPr>
        <p:spPr>
          <a:xfrm>
            <a:off x="3562350" y="2819400"/>
            <a:ext cx="1047750" cy="381000"/>
          </a:xfrm>
          <a:prstGeom prst="rect">
            <a:avLst/>
          </a:prstGeom>
          <a:solidFill>
            <a:srgbClr val="B9E3E4"/>
          </a:solidFill>
          <a:ln w="9525">
            <a:solidFill>
              <a:srgbClr val="B9E3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5350" y="28194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39,533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190750" y="3238500"/>
            <a:ext cx="400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Unconditional 22,311    ■ Still conditional 17,222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190750" y="3429000"/>
            <a:ext cx="438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56.4% of offers are made unconditional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3900" y="37909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Unconditional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23900" y="396240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35.9%</a:t>
            </a:r>
            <a:endParaRPr lang="en-US" sz="900" dirty="0"/>
          </a:p>
        </p:txBody>
      </p:sp>
      <p:sp>
        <p:nvSpPr>
          <p:cNvPr id="30" name="Funnel bar"/>
          <p:cNvSpPr/>
          <p:nvPr/>
        </p:nvSpPr>
        <p:spPr>
          <a:xfrm>
            <a:off x="2190750" y="3752850"/>
            <a:ext cx="1371600" cy="3810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7600" y="375285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22,311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190750" y="4229100"/>
            <a:ext cx="438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only 33.2% of unconditional offer-holders enrol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23900" y="47244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3900" y="489585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900" dirty="0"/>
          </a:p>
        </p:txBody>
      </p:sp>
      <p:sp>
        <p:nvSpPr>
          <p:cNvPr id="35" name="Funnel bar"/>
          <p:cNvSpPr/>
          <p:nvPr/>
        </p:nvSpPr>
        <p:spPr>
          <a:xfrm>
            <a:off x="2190750" y="4686300"/>
            <a:ext cx="457200" cy="38100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43200" y="46863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7,415</a:t>
            </a:r>
            <a:endParaRPr lang="en-US" sz="1600" dirty="0"/>
          </a:p>
        </p:txBody>
      </p:sp>
      <p:sp>
        <p:nvSpPr>
          <p:cNvPr id="37" name="Read note"/>
          <p:cNvSpPr/>
          <p:nvPr/>
        </p:nvSpPr>
        <p:spPr>
          <a:xfrm>
            <a:off x="723900" y="5600700"/>
            <a:ext cx="6286500" cy="266700"/>
          </a:xfrm>
          <a:prstGeom prst="rect">
            <a:avLst/>
          </a:prstGeom>
          <a:solidFill>
            <a:srgbClr val="F7F3C9"/>
          </a:solidFill>
          <a:ln w="9525">
            <a:solidFill>
              <a:srgbClr val="F7F3C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8200" y="5600700"/>
            <a:ext cx="605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top to bottom: </a:t>
            </a:r>
            <a:pPr indent="0" marL="0">
              <a:buNone/>
            </a:pPr>
            <a:r>
              <a:rPr lang="en-US" sz="10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steepest drop is the last one</a:t>
            </a:r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from unconditional offer to enrolment.</a:t>
            </a:r>
            <a:endParaRPr lang="en-US" sz="1000" dirty="0"/>
          </a:p>
        </p:txBody>
      </p:sp>
      <p:sp>
        <p:nvSpPr>
          <p:cNvPr id="39" name="Card"/>
          <p:cNvSpPr/>
          <p:nvPr/>
        </p:nvSpPr>
        <p:spPr>
          <a:xfrm>
            <a:off x="7391400" y="1447800"/>
            <a:ext cx="4267200" cy="14287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62850" y="15811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62,180 END UP</a:t>
            </a:r>
            <a:endParaRPr lang="en-US" sz="850" dirty="0"/>
          </a:p>
        </p:txBody>
      </p:sp>
      <p:sp>
        <p:nvSpPr>
          <p:cNvPr id="41" name="Share"/>
          <p:cNvSpPr/>
          <p:nvPr/>
        </p:nvSpPr>
        <p:spPr>
          <a:xfrm>
            <a:off x="7562850" y="1809750"/>
            <a:ext cx="1428445" cy="152400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42" name="Share"/>
          <p:cNvSpPr/>
          <p:nvPr/>
        </p:nvSpPr>
        <p:spPr>
          <a:xfrm>
            <a:off x="8991295" y="1809750"/>
            <a:ext cx="1087031" cy="152400"/>
          </a:xfrm>
          <a:prstGeom prst="rect">
            <a:avLst/>
          </a:prstGeom>
          <a:solidFill>
            <a:srgbClr val="B9E3E4"/>
          </a:solidFill>
          <a:ln w="9525">
            <a:solidFill>
              <a:srgbClr val="B9E3E4"/>
            </a:solidFill>
            <a:prstDash val="solid"/>
          </a:ln>
        </p:spPr>
      </p:sp>
      <p:sp>
        <p:nvSpPr>
          <p:cNvPr id="43" name="Share"/>
          <p:cNvSpPr/>
          <p:nvPr/>
        </p:nvSpPr>
        <p:spPr>
          <a:xfrm>
            <a:off x="10078326" y="1809750"/>
            <a:ext cx="941832" cy="15240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44" name="Share"/>
          <p:cNvSpPr/>
          <p:nvPr/>
        </p:nvSpPr>
        <p:spPr>
          <a:xfrm>
            <a:off x="11020158" y="1809750"/>
            <a:ext cx="466992" cy="1524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45" name="Key"/>
          <p:cNvSpPr/>
          <p:nvPr/>
        </p:nvSpPr>
        <p:spPr>
          <a:xfrm>
            <a:off x="7562850" y="2076450"/>
            <a:ext cx="95250" cy="95250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34300" y="203835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offered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0477500" y="2038350"/>
            <a:ext cx="100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22,647</a:t>
            </a:r>
            <a:endParaRPr lang="en-US" sz="1050" dirty="0"/>
          </a:p>
        </p:txBody>
      </p:sp>
      <p:sp>
        <p:nvSpPr>
          <p:cNvPr id="48" name="Key"/>
          <p:cNvSpPr/>
          <p:nvPr/>
        </p:nvSpPr>
        <p:spPr>
          <a:xfrm>
            <a:off x="7562850" y="2266950"/>
            <a:ext cx="95250" cy="95250"/>
          </a:xfrm>
          <a:prstGeom prst="rect">
            <a:avLst/>
          </a:prstGeom>
          <a:solidFill>
            <a:srgbClr val="B9E3E4"/>
          </a:solidFill>
          <a:ln w="9525">
            <a:solidFill>
              <a:srgbClr val="B9E3E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734300" y="222885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still conditional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0477500" y="2228850"/>
            <a:ext cx="100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17,222</a:t>
            </a:r>
            <a:endParaRPr lang="en-US" sz="1050" dirty="0"/>
          </a:p>
        </p:txBody>
      </p:sp>
      <p:sp>
        <p:nvSpPr>
          <p:cNvPr id="51" name="Key"/>
          <p:cNvSpPr/>
          <p:nvPr/>
        </p:nvSpPr>
        <p:spPr>
          <a:xfrm>
            <a:off x="7562850" y="2457450"/>
            <a:ext cx="95250" cy="9525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34300" y="241935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Unconditional, did not enrol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10477500" y="2419350"/>
            <a:ext cx="100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14,896</a:t>
            </a:r>
            <a:endParaRPr lang="en-US" sz="1050" dirty="0"/>
          </a:p>
        </p:txBody>
      </p:sp>
      <p:sp>
        <p:nvSpPr>
          <p:cNvPr id="54" name="Key"/>
          <p:cNvSpPr/>
          <p:nvPr/>
        </p:nvSpPr>
        <p:spPr>
          <a:xfrm>
            <a:off x="7562850" y="2647950"/>
            <a:ext cx="95250" cy="9525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34300" y="260985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10477500" y="2609850"/>
            <a:ext cx="100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7,415</a:t>
            </a:r>
            <a:endParaRPr lang="en-US" sz="1050" dirty="0"/>
          </a:p>
        </p:txBody>
      </p:sp>
      <p:sp>
        <p:nvSpPr>
          <p:cNvPr id="57" name="Card"/>
          <p:cNvSpPr/>
          <p:nvPr/>
        </p:nvSpPr>
        <p:spPr>
          <a:xfrm>
            <a:off x="7391400" y="2971800"/>
            <a:ext cx="4267200" cy="9144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562850" y="31051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LEVER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562850" y="3276600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~220</a:t>
            </a:r>
            <a:endParaRPr lang="en-US" sz="2800" dirty="0"/>
          </a:p>
        </p:txBody>
      </p:sp>
      <p:sp>
        <p:nvSpPr>
          <p:cNvPr id="60" name="Text 58"/>
          <p:cNvSpPr txBox="1"/>
          <p:nvPr/>
        </p:nvSpPr>
        <p:spPr>
          <a:xfrm>
            <a:off x="8763000" y="3295650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enrolments for every one-point gain in unconditional-to-enrolment conversion.</a:t>
            </a:r>
            <a:endParaRPr lang="en-US" sz="1050" dirty="0"/>
          </a:p>
        </p:txBody>
      </p:sp>
      <p:sp>
        <p:nvSpPr>
          <p:cNvPr id="61" name="Card"/>
          <p:cNvSpPr/>
          <p:nvPr/>
        </p:nvSpPr>
        <p:spPr>
          <a:xfrm>
            <a:off x="7391400" y="3981450"/>
            <a:ext cx="4267200" cy="8763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562850" y="41148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WITH CARE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7562850" y="430530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4,038 applicants carry an unassessed "Other" fee status and only 4 enrol. Excluding them, conversion is </a:t>
            </a:r>
            <a:pPr indent="0" marL="0">
              <a:buNone/>
            </a:pPr>
            <a:r>
              <a:rPr lang="en-US" sz="105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pPr indent="0" marL="0">
              <a:buNone/>
            </a:pPr>
            <a:r>
              <a:rPr lang="en-US" sz="10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64" name="So what"/>
          <p:cNvSpPr/>
          <p:nvPr/>
        </p:nvSpPr>
        <p:spPr>
          <a:xfrm>
            <a:off x="7391400" y="4953000"/>
            <a:ext cx="4267200" cy="10287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543800" y="5048250"/>
            <a:ext cx="3962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what: the fastest gain is post-offer conversion. Same demand, more students.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0750"/>
            <a:ext cx="2571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45BA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Text 1"/>
          <p:cNvSpPr txBox="1"/>
          <p:nvPr/>
        </p:nvSpPr>
        <p:spPr>
          <a:xfrm>
            <a:off x="3429000" y="245745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SEGMENTS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667000"/>
            <a:ext cx="800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BF8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it leaks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3467100"/>
            <a:ext cx="800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status, level, school and course: where conversion is won and lost.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8100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7 to 10</a:t>
            </a:r>
            <a:endParaRPr lang="en-US" sz="1200" dirty="0"/>
          </a:p>
        </p:txBody>
      </p:sp>
      <p:sp>
        <p:nvSpPr>
          <p:cNvPr id="7" name="Tracker"/>
          <p:cNvSpPr/>
          <p:nvPr/>
        </p:nvSpPr>
        <p:spPr>
          <a:xfrm>
            <a:off x="68580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Bottom line</a:t>
            </a:r>
            <a:endParaRPr lang="en-US" sz="1100" dirty="0"/>
          </a:p>
        </p:txBody>
      </p:sp>
      <p:sp>
        <p:nvSpPr>
          <p:cNvPr id="9" name="Tracker"/>
          <p:cNvSpPr/>
          <p:nvPr/>
        </p:nvSpPr>
        <p:spPr>
          <a:xfrm>
            <a:off x="287655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655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pipeline</a:t>
            </a:r>
            <a:endParaRPr lang="en-US" sz="1100" dirty="0"/>
          </a:p>
        </p:txBody>
      </p:sp>
      <p:sp>
        <p:nvSpPr>
          <p:cNvPr id="11" name="Tracker"/>
          <p:cNvSpPr/>
          <p:nvPr/>
        </p:nvSpPr>
        <p:spPr>
          <a:xfrm>
            <a:off x="5067300" y="5715000"/>
            <a:ext cx="2076450" cy="47625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673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Where it leaks</a:t>
            </a:r>
            <a:endParaRPr lang="en-US" sz="1100" dirty="0"/>
          </a:p>
        </p:txBody>
      </p:sp>
      <p:sp>
        <p:nvSpPr>
          <p:cNvPr id="13" name="Tracker"/>
          <p:cNvSpPr/>
          <p:nvPr/>
        </p:nvSpPr>
        <p:spPr>
          <a:xfrm>
            <a:off x="7258050" y="5715000"/>
            <a:ext cx="2076450" cy="47625"/>
          </a:xfrm>
          <a:prstGeom prst="rect">
            <a:avLst/>
          </a:prstGeom>
          <a:solidFill>
            <a:srgbClr val="4A4644"/>
          </a:solidFill>
          <a:ln w="9525">
            <a:solidFill>
              <a:srgbClr val="4A46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805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market</a:t>
            </a:r>
            <a:endParaRPr lang="en-US" sz="1100" dirty="0"/>
          </a:p>
        </p:txBody>
      </p:sp>
      <p:sp>
        <p:nvSpPr>
          <p:cNvPr id="15" name="Tracker"/>
          <p:cNvSpPr/>
          <p:nvPr/>
        </p:nvSpPr>
        <p:spPr>
          <a:xfrm>
            <a:off x="9448800" y="5715000"/>
            <a:ext cx="2076450" cy="47625"/>
          </a:xfrm>
          <a:prstGeom prst="rect">
            <a:avLst/>
          </a:prstGeom>
          <a:solidFill>
            <a:srgbClr val="4A4644"/>
          </a:solidFill>
          <a:ln w="9525">
            <a:solidFill>
              <a:srgbClr val="4A46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488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What to do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Muhammad Mustafa Ajmal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A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2047875" cy="22860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STATUS · INSIGHT 1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WHERE IT LEAKS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Overseas demand fills the funnel. Home demand fills the seats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 applicants are 64% of the pipeline but 49% of enrolments, and they fall behind at every stage.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· Admissions Portfolio Dashboard 2024/25 · home 18,360 and overseas 39,782 applicants · prize assumes current overseas unconditional volume (12,184)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533400" y="1447800"/>
            <a:ext cx="6667500" cy="45339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00" y="15811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AT EACH STAGE, %</a:t>
            </a:r>
            <a:endParaRPr lang="en-US" sz="8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66750" y="1771650"/>
          <a:ext cx="6381750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Read note"/>
          <p:cNvSpPr/>
          <p:nvPr/>
        </p:nvSpPr>
        <p:spPr>
          <a:xfrm>
            <a:off x="723900" y="5600700"/>
            <a:ext cx="6286500" cy="266700"/>
          </a:xfrm>
          <a:prstGeom prst="rect">
            <a:avLst/>
          </a:prstGeom>
          <a:solidFill>
            <a:srgbClr val="F7F3C9"/>
          </a:solidFill>
          <a:ln w="9525">
            <a:solidFill>
              <a:srgbClr val="F7F3C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200" y="5600700"/>
            <a:ext cx="605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compounds: </a:t>
            </a:r>
            <a:pPr indent="0" marL="0">
              <a:buNone/>
            </a:pPr>
            <a:r>
              <a:rPr lang="en-US" sz="10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overseas applicant is less than half as likely to enrol</a:t>
            </a:r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 home applicant (9.0% vs 20.8%).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7391400" y="1447800"/>
            <a:ext cx="4267200" cy="14287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62850" y="15811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THE PIPELINE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7562850" y="182880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</a:t>
            </a:r>
            <a:endParaRPr lang="en-US" sz="1000" dirty="0"/>
          </a:p>
        </p:txBody>
      </p:sp>
      <p:sp>
        <p:nvSpPr>
          <p:cNvPr id="21" name="Share"/>
          <p:cNvSpPr/>
          <p:nvPr/>
        </p:nvSpPr>
        <p:spPr>
          <a:xfrm>
            <a:off x="8477250" y="1828800"/>
            <a:ext cx="1926336" cy="20955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34400" y="182880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900" dirty="0"/>
          </a:p>
        </p:txBody>
      </p:sp>
      <p:sp>
        <p:nvSpPr>
          <p:cNvPr id="23" name="Share"/>
          <p:cNvSpPr/>
          <p:nvPr/>
        </p:nvSpPr>
        <p:spPr>
          <a:xfrm>
            <a:off x="10403586" y="1828800"/>
            <a:ext cx="887921" cy="20955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460736" y="182880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25" name="Share"/>
          <p:cNvSpPr/>
          <p:nvPr/>
        </p:nvSpPr>
        <p:spPr>
          <a:xfrm>
            <a:off x="11291507" y="1828800"/>
            <a:ext cx="195644" cy="209550"/>
          </a:xfrm>
          <a:prstGeom prst="rect">
            <a:avLst/>
          </a:prstGeom>
          <a:solidFill>
            <a:srgbClr val="B9AFA9"/>
          </a:solidFill>
          <a:ln w="9525">
            <a:solidFill>
              <a:srgbClr val="B9AFA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62850" y="215265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Enrolments</a:t>
            </a:r>
            <a:endParaRPr lang="en-US" sz="1000" dirty="0"/>
          </a:p>
        </p:txBody>
      </p:sp>
      <p:sp>
        <p:nvSpPr>
          <p:cNvPr id="27" name="Share"/>
          <p:cNvSpPr/>
          <p:nvPr/>
        </p:nvSpPr>
        <p:spPr>
          <a:xfrm>
            <a:off x="8477250" y="2152650"/>
            <a:ext cx="1462811" cy="20955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34400" y="21526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900" dirty="0"/>
          </a:p>
        </p:txBody>
      </p:sp>
      <p:sp>
        <p:nvSpPr>
          <p:cNvPr id="29" name="Share"/>
          <p:cNvSpPr/>
          <p:nvPr/>
        </p:nvSpPr>
        <p:spPr>
          <a:xfrm>
            <a:off x="9940061" y="2152650"/>
            <a:ext cx="1547089" cy="20955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997211" y="21526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562850" y="2533650"/>
            <a:ext cx="3924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Overseas  ■ Home  ■ Unassessed fee status (6%), 4 enrolments</a:t>
            </a:r>
            <a:endParaRPr lang="en-US" sz="900" dirty="0"/>
          </a:p>
        </p:txBody>
      </p:sp>
      <p:sp>
        <p:nvSpPr>
          <p:cNvPr id="32" name="Card"/>
          <p:cNvSpPr/>
          <p:nvPr/>
        </p:nvSpPr>
        <p:spPr>
          <a:xfrm>
            <a:off x="7391400" y="2971800"/>
            <a:ext cx="4267200" cy="11430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62850" y="31051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PRIZE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562850" y="32766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64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~120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7562850" y="363855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enrolments per one-point gain in overseas unconditional-to-enrolment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9620250" y="32766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8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~690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9620250" y="363855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half the gap to home closes (29.5% to 35.2%)</a:t>
            </a:r>
            <a:endParaRPr lang="en-US" sz="950" dirty="0"/>
          </a:p>
        </p:txBody>
      </p:sp>
      <p:sp>
        <p:nvSpPr>
          <p:cNvPr id="38" name="So what"/>
          <p:cNvSpPr/>
          <p:nvPr/>
        </p:nvSpPr>
        <p:spPr>
          <a:xfrm>
            <a:off x="7391400" y="4210050"/>
            <a:ext cx="4267200" cy="177165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543800" y="4305300"/>
            <a:ext cx="39624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what: the overseas leak is post-offer (deposit, CAS and visa stages), not demand. Run it as a conversion programme, not a recruitment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1638300" cy="22860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· INSIGHT 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WHERE IT LEAKS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postgraduate gap is an overseas gap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postgraduates convert as well as home undergraduates. The headline PG rate is pulled down by overseas volume.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· Admissions Portfolio Dashboard 2024/25 · excludes unassessed fee status and 16 "other level" applicants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533400" y="1447800"/>
            <a:ext cx="6667500" cy="45339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00" y="158115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BY LEVEL AND FEE STATUS (ENROLLED ÷ APPLICANTS)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809750" y="18669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14850" y="18669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POSTGRADUATE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23900" y="2076450"/>
            <a:ext cx="9525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23900" y="3752850"/>
            <a:ext cx="9525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</a:t>
            </a:r>
            <a:endParaRPr lang="en-US" sz="900" dirty="0"/>
          </a:p>
        </p:txBody>
      </p:sp>
      <p:sp>
        <p:nvSpPr>
          <p:cNvPr id="19" name="Matrix cell"/>
          <p:cNvSpPr/>
          <p:nvPr/>
        </p:nvSpPr>
        <p:spPr>
          <a:xfrm>
            <a:off x="1809750" y="2076450"/>
            <a:ext cx="2571750" cy="158115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62150" y="2209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20.6%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1962150" y="33337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14,185 applicants · 2,919 enrolled</a:t>
            </a:r>
            <a:endParaRPr lang="en-US" sz="1000" dirty="0"/>
          </a:p>
        </p:txBody>
      </p:sp>
      <p:sp>
        <p:nvSpPr>
          <p:cNvPr id="22" name="Matrix cell"/>
          <p:cNvSpPr/>
          <p:nvPr/>
        </p:nvSpPr>
        <p:spPr>
          <a:xfrm>
            <a:off x="4514850" y="2076450"/>
            <a:ext cx="2571750" cy="158115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7250" y="2209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21.2%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4667250" y="33337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4,159 applicants · 880 enrolled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57850" y="222885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</a:t>
            </a:r>
            <a:endParaRPr lang="en-US" sz="800" dirty="0"/>
          </a:p>
        </p:txBody>
      </p:sp>
      <p:sp>
        <p:nvSpPr>
          <p:cNvPr id="26" name="Matrix cell"/>
          <p:cNvSpPr/>
          <p:nvPr/>
        </p:nvSpPr>
        <p:spPr>
          <a:xfrm>
            <a:off x="1809750" y="3752850"/>
            <a:ext cx="2571750" cy="158115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62150" y="38862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11.0%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962150" y="50101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12,131 applicants · 1,330 enrolled</a:t>
            </a:r>
            <a:endParaRPr lang="en-US" sz="1000" dirty="0"/>
          </a:p>
        </p:txBody>
      </p:sp>
      <p:sp>
        <p:nvSpPr>
          <p:cNvPr id="29" name="Matrix cell"/>
          <p:cNvSpPr/>
          <p:nvPr/>
        </p:nvSpPr>
        <p:spPr>
          <a:xfrm>
            <a:off x="4514850" y="3752850"/>
            <a:ext cx="2571750" cy="158115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7250" y="38862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D5D7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8.2%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4667250" y="50101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27,651 applicants · 2,270 enrolled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657850" y="390525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FD5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OF ALL APPLICANTS</a:t>
            </a:r>
            <a:endParaRPr lang="en-US" sz="800" dirty="0"/>
          </a:p>
        </p:txBody>
      </p:sp>
      <p:sp>
        <p:nvSpPr>
          <p:cNvPr id="33" name="Read note"/>
          <p:cNvSpPr/>
          <p:nvPr/>
        </p:nvSpPr>
        <p:spPr>
          <a:xfrm>
            <a:off x="723900" y="5600700"/>
            <a:ext cx="6286500" cy="266700"/>
          </a:xfrm>
          <a:prstGeom prst="rect">
            <a:avLst/>
          </a:prstGeom>
          <a:solidFill>
            <a:srgbClr val="F7F3C9"/>
          </a:solidFill>
          <a:ln w="9525">
            <a:solidFill>
              <a:srgbClr val="F7F3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8200" y="5600700"/>
            <a:ext cx="605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view (</a:t>
            </a:r>
            <a:pPr indent="0" marL="0">
              <a:buNone/>
            </a:pPr>
            <a:r>
              <a:rPr lang="en-US" sz="10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 14.7%, PG 9.5%</a:t>
            </a:r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reads as a level problem. Split by fee status, </a:t>
            </a:r>
            <a:pPr indent="0" marL="0">
              <a:buNone/>
            </a:pPr>
            <a:r>
              <a:rPr lang="en-US" sz="10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PG leads</a:t>
            </a:r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5" name="Card"/>
          <p:cNvSpPr/>
          <p:nvPr/>
        </p:nvSpPr>
        <p:spPr>
          <a:xfrm>
            <a:off x="7391400" y="1447800"/>
            <a:ext cx="4267200" cy="16764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62850" y="15811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OVERSEAS PG DROPS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62850" y="1790700"/>
          <a:ext cx="3924300" cy="914400"/>
        </p:xfrm>
        <a:graphic>
          <a:graphicData uri="http://schemas.openxmlformats.org/drawingml/2006/table">
            <a:tbl>
              <a:tblPr/>
              <a:tblGrid>
                <a:gridCol w="2019300"/>
                <a:gridCol w="952500"/>
                <a:gridCol w="9525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Overseas 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 unconditional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Enrolled of unconditional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5"/>
          <p:cNvSpPr txBox="1"/>
          <p:nvPr/>
        </p:nvSpPr>
        <p:spPr>
          <a:xfrm>
            <a:off x="7562850" y="2781300"/>
            <a:ext cx="392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 PG gets more offers, then loses three in four after the offer turns unconditional.</a:t>
            </a:r>
            <a:endParaRPr lang="en-US" sz="950" dirty="0"/>
          </a:p>
        </p:txBody>
      </p:sp>
      <p:sp>
        <p:nvSpPr>
          <p:cNvPr id="39" name="Card"/>
          <p:cNvSpPr/>
          <p:nvPr/>
        </p:nvSpPr>
        <p:spPr>
          <a:xfrm>
            <a:off x="7391400" y="3219450"/>
            <a:ext cx="4267200" cy="952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562850" y="33528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PART-TIME: SMALL BUT STICKY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7562850" y="3543300"/>
            <a:ext cx="104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64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24.2%</a:t>
            </a:r>
            <a:endParaRPr lang="en-US" sz="2600" dirty="0"/>
          </a:p>
        </p:txBody>
      </p:sp>
      <p:sp>
        <p:nvSpPr>
          <p:cNvPr id="42" name="Text 39"/>
          <p:cNvSpPr txBox="1"/>
          <p:nvPr/>
        </p:nvSpPr>
        <p:spPr>
          <a:xfrm>
            <a:off x="8667750" y="3524250"/>
            <a:ext cx="2819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on 1,668 applicants (2.7%). 79% of offers turn unconditional, against 56% full-time.</a:t>
            </a:r>
            <a:endParaRPr lang="en-US" sz="1000" dirty="0"/>
          </a:p>
        </p:txBody>
      </p:sp>
      <p:sp>
        <p:nvSpPr>
          <p:cNvPr id="43" name="So what"/>
          <p:cNvSpPr/>
          <p:nvPr/>
        </p:nvSpPr>
        <p:spPr>
          <a:xfrm>
            <a:off x="7391400" y="4267200"/>
            <a:ext cx="4267200" cy="17145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43800" y="436245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what: fix overseas PG conversion, not PG pricing. It is 44% of all applicants and converts at 8.2%.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1800225" cy="22860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· INSIGHT 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WHERE IT LEAKS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Like-for-like, the school league table flips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PGCE courses carry 11% of all applicants but convert at 3.1%, and every one sits in School C.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· Admissions Portfolio Dashboard 2024/25 · PGCE = course titles containing PGCE (51 courses, all School C)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533400" y="1447800"/>
            <a:ext cx="6667500" cy="45339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00" y="15811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BY SCHOOL, %</a:t>
            </a:r>
            <a:endParaRPr lang="en-US" sz="8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66750" y="1752600"/>
          <a:ext cx="6381750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900" y="4248150"/>
          <a:ext cx="6286500" cy="914400"/>
        </p:xfrm>
        <a:graphic>
          <a:graphicData uri="http://schemas.openxmlformats.org/drawingml/2006/table">
            <a:tbl>
              <a:tblPr/>
              <a:tblGrid>
                <a:gridCol w="762000"/>
                <a:gridCol w="1047750"/>
                <a:gridCol w="1047750"/>
                <a:gridCol w="1047750"/>
                <a:gridCol w="1238250"/>
                <a:gridCol w="1143000"/>
              </a:tblGrid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School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rate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Like-for-like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8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5th → 1st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→ 2nd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2nd → 3rd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3rd → 4th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18,768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4th → 5th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ard"/>
          <p:cNvSpPr/>
          <p:nvPr/>
        </p:nvSpPr>
        <p:spPr>
          <a:xfrm>
            <a:off x="7391400" y="1447800"/>
            <a:ext cx="4267200" cy="15811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62850" y="15811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PGCE EFFECT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7562850" y="1790700"/>
            <a:ext cx="1047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6,751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7562850" y="21145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8610600" y="18288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896350" y="1790700"/>
            <a:ext cx="1047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520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8896350" y="21145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944100" y="18288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0229850" y="1790700"/>
            <a:ext cx="1047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209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10229850" y="21145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562850" y="240030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offer rate of 7.7% and conversion of 3.1%: a different kind of pipeline, not a weak school.</a:t>
            </a:r>
            <a:endParaRPr lang="en-US" sz="1000" dirty="0"/>
          </a:p>
        </p:txBody>
      </p:sp>
      <p:sp>
        <p:nvSpPr>
          <p:cNvPr id="28" name="Card"/>
          <p:cNvSpPr/>
          <p:nvPr/>
        </p:nvSpPr>
        <p:spPr>
          <a:xfrm>
            <a:off x="7391400" y="3124200"/>
            <a:ext cx="4267200" cy="10477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562850" y="32575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 PGCE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7562850" y="3448050"/>
            <a:ext cx="666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2800" dirty="0"/>
          </a:p>
        </p:txBody>
      </p:sp>
      <p:sp>
        <p:nvSpPr>
          <p:cNvPr id="31" name="Text 27"/>
          <p:cNvSpPr txBox="1"/>
          <p:nvPr/>
        </p:nvSpPr>
        <p:spPr>
          <a:xfrm>
            <a:off x="8286750" y="3429000"/>
            <a:ext cx="32004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enrolments from 3,681 overseas PGCE applicants (0.6%). Likely route-specific entry rules; worth validating with admissions.</a:t>
            </a:r>
            <a:endParaRPr lang="en-US" sz="1000" dirty="0"/>
          </a:p>
        </p:txBody>
      </p:sp>
      <p:sp>
        <p:nvSpPr>
          <p:cNvPr id="32" name="So what"/>
          <p:cNvSpPr/>
          <p:nvPr/>
        </p:nvSpPr>
        <p:spPr>
          <a:xfrm>
            <a:off x="7391400" y="4267200"/>
            <a:ext cx="4267200" cy="17145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543800" y="436245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what: report schools like-for-like, and give PGCE its own pipeline, targets and applicant guidance.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1971675" cy="228600"/>
          </a:xfrm>
          <a:prstGeom prst="rect">
            <a:avLst/>
          </a:prstGeom>
          <a:solidFill>
            <a:srgbClr val="A357BC"/>
          </a:solidFill>
          <a:ln w="9525">
            <a:solidFill>
              <a:srgbClr val="A357B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INSIGHT 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WHERE IT LEAKS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small core carries the portfolio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of 535 courses deliver half of all enrolments. Half of the courses enrol five students or fewer.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· Admissions Portfolio Dashboard 2024/25 · course = recruiting title, all modes and fee statuses combined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533400" y="1447800"/>
            <a:ext cx="6667500" cy="45339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00" y="1581150"/>
            <a:ext cx="609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BY NUMBER OF ENROLMENTS (SHARE OF ALL ENROLMENTS IN LABELS)</a:t>
            </a:r>
            <a:endParaRPr lang="en-US" sz="8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66750" y="1771650"/>
          <a:ext cx="6381750" cy="3714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Read note"/>
          <p:cNvSpPr/>
          <p:nvPr/>
        </p:nvSpPr>
        <p:spPr>
          <a:xfrm>
            <a:off x="723900" y="5600700"/>
            <a:ext cx="6286500" cy="266700"/>
          </a:xfrm>
          <a:prstGeom prst="rect">
            <a:avLst/>
          </a:prstGeom>
          <a:solidFill>
            <a:srgbClr val="F7F3C9"/>
          </a:solidFill>
          <a:ln w="9525">
            <a:solidFill>
              <a:srgbClr val="F7F3C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200" y="5600700"/>
            <a:ext cx="605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left to right: </a:t>
            </a:r>
            <a:pPr indent="0" marL="0">
              <a:buNone/>
            </a:pPr>
            <a:r>
              <a:rPr lang="en-US" sz="10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 courses (coral) hold 6% of enrolments</a:t>
            </a:r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96 courses (teal) hold 68%.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7391400" y="1447800"/>
            <a:ext cx="2076450" cy="952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24750" y="158115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ENROLMENTS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7524750" y="177165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48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524750" y="2152650"/>
            <a:ext cx="1809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(9%)</a:t>
            </a:r>
            <a:endParaRPr lang="en-US" sz="950" dirty="0"/>
          </a:p>
        </p:txBody>
      </p:sp>
      <p:sp>
        <p:nvSpPr>
          <p:cNvPr id="22" name="Card"/>
          <p:cNvSpPr/>
          <p:nvPr/>
        </p:nvSpPr>
        <p:spPr>
          <a:xfrm>
            <a:off x="9582150" y="1447800"/>
            <a:ext cx="2076450" cy="952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15500" y="158115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ENROLMENTS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9715500" y="177165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153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9715500" y="2152650"/>
            <a:ext cx="1809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(29%)</a:t>
            </a:r>
            <a:endParaRPr lang="en-US" sz="950" dirty="0"/>
          </a:p>
        </p:txBody>
      </p:sp>
      <p:sp>
        <p:nvSpPr>
          <p:cNvPr id="26" name="Card"/>
          <p:cNvSpPr/>
          <p:nvPr/>
        </p:nvSpPr>
        <p:spPr>
          <a:xfrm>
            <a:off x="7391400" y="2495550"/>
            <a:ext cx="4267200" cy="18669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62850" y="26289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CORE: TOP FIVE BY ENROLMENTS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62850" y="2819400"/>
          <a:ext cx="3924300" cy="914400"/>
        </p:xfrm>
        <a:graphic>
          <a:graphicData uri="http://schemas.openxmlformats.org/drawingml/2006/table">
            <a:tbl>
              <a:tblPr/>
              <a:tblGrid>
                <a:gridCol w="2590800"/>
                <a:gridCol w="666750"/>
                <a:gridCol w="666750"/>
              </a:tblGrid>
              <a:tr h="23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· school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Management BSc · 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Science BSc · 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Hospitality Management BA · 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Science (Placement) MSc · 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Adult Nursing BSc · 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8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So what"/>
          <p:cNvSpPr/>
          <p:nvPr/>
        </p:nvSpPr>
        <p:spPr>
          <a:xfrm>
            <a:off x="7391400" y="4457700"/>
            <a:ext cx="4267200" cy="15240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543800" y="4552950"/>
            <a:ext cx="39624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what: protect and grow the core; review the 269 courses with five or fewer enrolments for consolidation into pathways, or closure.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0750"/>
            <a:ext cx="2571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45BA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Text 1"/>
          <p:cNvSpPr txBox="1"/>
          <p:nvPr/>
        </p:nvSpPr>
        <p:spPr>
          <a:xfrm>
            <a:off x="3429000" y="245745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 CONTEXT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667000"/>
            <a:ext cx="800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BF8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market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3467100"/>
            <a:ext cx="800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UNI A's growth compares with the sector, 2018/19 to 2022/23.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8100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12 and 13</a:t>
            </a:r>
            <a:endParaRPr lang="en-US" sz="1200" dirty="0"/>
          </a:p>
        </p:txBody>
      </p:sp>
      <p:sp>
        <p:nvSpPr>
          <p:cNvPr id="7" name="Tracker"/>
          <p:cNvSpPr/>
          <p:nvPr/>
        </p:nvSpPr>
        <p:spPr>
          <a:xfrm>
            <a:off x="68580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Bottom line</a:t>
            </a:r>
            <a:endParaRPr lang="en-US" sz="1100" dirty="0"/>
          </a:p>
        </p:txBody>
      </p:sp>
      <p:sp>
        <p:nvSpPr>
          <p:cNvPr id="9" name="Tracker"/>
          <p:cNvSpPr/>
          <p:nvPr/>
        </p:nvSpPr>
        <p:spPr>
          <a:xfrm>
            <a:off x="287655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655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pipeline</a:t>
            </a:r>
            <a:endParaRPr lang="en-US" sz="1100" dirty="0"/>
          </a:p>
        </p:txBody>
      </p:sp>
      <p:sp>
        <p:nvSpPr>
          <p:cNvPr id="11" name="Tracker"/>
          <p:cNvSpPr/>
          <p:nvPr/>
        </p:nvSpPr>
        <p:spPr>
          <a:xfrm>
            <a:off x="506730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673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Where it leaks</a:t>
            </a:r>
            <a:endParaRPr lang="en-US" sz="1100" dirty="0"/>
          </a:p>
        </p:txBody>
      </p:sp>
      <p:sp>
        <p:nvSpPr>
          <p:cNvPr id="13" name="Tracker"/>
          <p:cNvSpPr/>
          <p:nvPr/>
        </p:nvSpPr>
        <p:spPr>
          <a:xfrm>
            <a:off x="7258050" y="5715000"/>
            <a:ext cx="2076450" cy="47625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805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market</a:t>
            </a:r>
            <a:endParaRPr lang="en-US" sz="1100" dirty="0"/>
          </a:p>
        </p:txBody>
      </p:sp>
      <p:sp>
        <p:nvSpPr>
          <p:cNvPr id="15" name="Tracker"/>
          <p:cNvSpPr/>
          <p:nvPr/>
        </p:nvSpPr>
        <p:spPr>
          <a:xfrm>
            <a:off x="9448800" y="5715000"/>
            <a:ext cx="2076450" cy="47625"/>
          </a:xfrm>
          <a:prstGeom prst="rect">
            <a:avLst/>
          </a:prstGeom>
          <a:solidFill>
            <a:srgbClr val="4A4644"/>
          </a:solidFill>
          <a:ln w="9525">
            <a:solidFill>
              <a:srgbClr val="4A46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488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What to do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Muhammad Mustafa Ajmal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A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1638300" cy="228600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· HESA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MARKET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years of growth, built on non-EU students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 A grew three times faster than the sector since 2018/19, almost entirely through non-EU recruitment. Home demand has stalled.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· HESA open data, 2018/19 to 2022/23 · five-year values approximate, read from the published series · growth rates as published</a:t>
            </a:r>
            <a:endParaRPr lang="en-US" sz="900" dirty="0"/>
          </a:p>
        </p:txBody>
      </p:sp>
      <p:sp>
        <p:nvSpPr>
          <p:cNvPr id="13" name="KPI"/>
          <p:cNvSpPr/>
          <p:nvPr/>
        </p:nvSpPr>
        <p:spPr>
          <a:xfrm>
            <a:off x="533400" y="1428750"/>
            <a:ext cx="2695575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KPI signal"/>
          <p:cNvSpPr/>
          <p:nvPr/>
        </p:nvSpPr>
        <p:spPr>
          <a:xfrm>
            <a:off x="533400" y="1428750"/>
            <a:ext cx="2695575" cy="38100"/>
          </a:xfrm>
          <a:prstGeom prst="rect">
            <a:avLst/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15" name="KPI icon"/>
          <p:cNvSpPr/>
          <p:nvPr/>
        </p:nvSpPr>
        <p:spPr>
          <a:xfrm>
            <a:off x="647700" y="1619250"/>
            <a:ext cx="228600" cy="228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700" y="1619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33450" y="1466850"/>
            <a:ext cx="1028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B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+61%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81200" y="1466850"/>
            <a:ext cx="1181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 A enrolments in five years, against +20% for the sector</a:t>
            </a:r>
            <a:endParaRPr lang="en-US" sz="900" dirty="0"/>
          </a:p>
        </p:txBody>
      </p:sp>
      <p:sp>
        <p:nvSpPr>
          <p:cNvPr id="19" name="KPI"/>
          <p:cNvSpPr/>
          <p:nvPr/>
        </p:nvSpPr>
        <p:spPr>
          <a:xfrm>
            <a:off x="3343275" y="1428750"/>
            <a:ext cx="2695575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0" name="KPI signal"/>
          <p:cNvSpPr/>
          <p:nvPr/>
        </p:nvSpPr>
        <p:spPr>
          <a:xfrm>
            <a:off x="3343275" y="1428750"/>
            <a:ext cx="2695575" cy="38100"/>
          </a:xfrm>
          <a:prstGeom prst="rect">
            <a:avLst/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1" name="KPI icon"/>
          <p:cNvSpPr/>
          <p:nvPr/>
        </p:nvSpPr>
        <p:spPr>
          <a:xfrm>
            <a:off x="3457575" y="1619250"/>
            <a:ext cx="228600" cy="228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57575" y="1619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743325" y="1466850"/>
            <a:ext cx="1028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B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~7x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791075" y="1466850"/>
            <a:ext cx="1181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non-EU enrolments since 2018/19, from about 1,500 to 10,200</a:t>
            </a:r>
            <a:endParaRPr lang="en-US" sz="900" dirty="0"/>
          </a:p>
        </p:txBody>
      </p:sp>
      <p:sp>
        <p:nvSpPr>
          <p:cNvPr id="25" name="KPI"/>
          <p:cNvSpPr/>
          <p:nvPr/>
        </p:nvSpPr>
        <p:spPr>
          <a:xfrm>
            <a:off x="6153150" y="1428750"/>
            <a:ext cx="2695575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6" name="KPI signal"/>
          <p:cNvSpPr/>
          <p:nvPr/>
        </p:nvSpPr>
        <p:spPr>
          <a:xfrm>
            <a:off x="6153150" y="1428750"/>
            <a:ext cx="2695575" cy="38100"/>
          </a:xfrm>
          <a:prstGeom prst="rect">
            <a:avLst/>
          </a:prstGeom>
          <a:solidFill>
            <a:srgbClr val="B8233F"/>
          </a:solidFill>
          <a:ln w="9525">
            <a:solidFill>
              <a:srgbClr val="B8233F"/>
            </a:solidFill>
            <a:prstDash val="solid"/>
          </a:ln>
        </p:spPr>
      </p:sp>
      <p:sp>
        <p:nvSpPr>
          <p:cNvPr id="27" name="KPI icon"/>
          <p:cNvSpPr/>
          <p:nvPr/>
        </p:nvSpPr>
        <p:spPr>
          <a:xfrm>
            <a:off x="6267450" y="1619250"/>
            <a:ext cx="228600" cy="228600"/>
          </a:xfrm>
          <a:prstGeom prst="ellipse">
            <a:avLst/>
          </a:prstGeom>
          <a:solidFill>
            <a:srgbClr val="B8233F"/>
          </a:solidFill>
          <a:ln w="12700">
            <a:solidFill>
              <a:srgbClr val="B823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7450" y="1619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53200" y="1466850"/>
            <a:ext cx="1028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85→54%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600950" y="1466850"/>
            <a:ext cx="1181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share of UNI A students since 2018/19</a:t>
            </a:r>
            <a:endParaRPr lang="en-US" sz="900" dirty="0"/>
          </a:p>
        </p:txBody>
      </p:sp>
      <p:sp>
        <p:nvSpPr>
          <p:cNvPr id="31" name="KPI"/>
          <p:cNvSpPr/>
          <p:nvPr/>
        </p:nvSpPr>
        <p:spPr>
          <a:xfrm>
            <a:off x="8963025" y="1428750"/>
            <a:ext cx="2695575" cy="5715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32" name="KPI signal"/>
          <p:cNvSpPr/>
          <p:nvPr/>
        </p:nvSpPr>
        <p:spPr>
          <a:xfrm>
            <a:off x="8963025" y="1428750"/>
            <a:ext cx="2695575" cy="38100"/>
          </a:xfrm>
          <a:prstGeom prst="rect">
            <a:avLst/>
          </a:prstGeom>
          <a:solidFill>
            <a:srgbClr val="B8233F"/>
          </a:solidFill>
          <a:ln w="9525">
            <a:solidFill>
              <a:srgbClr val="B8233F"/>
            </a:solidFill>
            <a:prstDash val="solid"/>
          </a:ln>
        </p:spPr>
      </p:sp>
      <p:sp>
        <p:nvSpPr>
          <p:cNvPr id="33" name="KPI icon"/>
          <p:cNvSpPr/>
          <p:nvPr/>
        </p:nvSpPr>
        <p:spPr>
          <a:xfrm>
            <a:off x="9077325" y="1619250"/>
            <a:ext cx="228600" cy="228600"/>
          </a:xfrm>
          <a:prstGeom prst="ellipse">
            <a:avLst/>
          </a:prstGeom>
          <a:solidFill>
            <a:srgbClr val="B8233F"/>
          </a:solidFill>
          <a:ln w="12700">
            <a:solidFill>
              <a:srgbClr val="B823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77325" y="1619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363075" y="1466850"/>
            <a:ext cx="1028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-6.0%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410825" y="1466850"/>
            <a:ext cx="1181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enrolments last year, against -0.3% for the sector</a:t>
            </a:r>
            <a:endParaRPr lang="en-US" sz="900" dirty="0"/>
          </a:p>
        </p:txBody>
      </p:sp>
      <p:sp>
        <p:nvSpPr>
          <p:cNvPr id="37" name="Card"/>
          <p:cNvSpPr/>
          <p:nvPr/>
        </p:nvSpPr>
        <p:spPr>
          <a:xfrm>
            <a:off x="533400" y="2114550"/>
            <a:ext cx="3848100" cy="36766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2228850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GROWTH, INDEXED (2018/19 = 100)</a:t>
            </a:r>
            <a:endParaRPr lang="en-US" sz="85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609600" y="2419350"/>
          <a:ext cx="3695700" cy="3314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Card"/>
          <p:cNvSpPr/>
          <p:nvPr/>
        </p:nvSpPr>
        <p:spPr>
          <a:xfrm>
            <a:off x="4495800" y="2114550"/>
            <a:ext cx="3429000" cy="36766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648200" y="2228850"/>
            <a:ext cx="3238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UNI A MIX, THOUSANDS (NON-EU SHARE)</a:t>
            </a:r>
            <a:endParaRPr lang="en-US" sz="850" dirty="0"/>
          </a:p>
        </p:txBody>
      </p:sp>
      <p:graphicFrame>
        <p:nvGraphicFramePr>
          <p:cNvPr id="42" name="Chart 1" descr=""/>
          <p:cNvGraphicFramePr/>
          <p:nvPr/>
        </p:nvGraphicFramePr>
        <p:xfrm>
          <a:off x="4572000" y="2419350"/>
          <a:ext cx="3276600" cy="3314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Card"/>
          <p:cNvSpPr/>
          <p:nvPr/>
        </p:nvSpPr>
        <p:spPr>
          <a:xfrm>
            <a:off x="8039100" y="2114550"/>
            <a:ext cx="3619500" cy="36766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191500" y="222885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LAST YEAR, 2021/22 TO 2022/23, %</a:t>
            </a:r>
            <a:endParaRPr lang="en-US" sz="850" dirty="0"/>
          </a:p>
        </p:txBody>
      </p:sp>
      <p:graphicFrame>
        <p:nvGraphicFramePr>
          <p:cNvPr id="45" name="Chart 2" descr=""/>
          <p:cNvGraphicFramePr/>
          <p:nvPr/>
        </p:nvGraphicFramePr>
        <p:xfrm>
          <a:off x="8115300" y="2419350"/>
          <a:ext cx="3467100" cy="3314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6" name="Band"/>
          <p:cNvSpPr/>
          <p:nvPr/>
        </p:nvSpPr>
        <p:spPr>
          <a:xfrm>
            <a:off x="533400" y="5886450"/>
            <a:ext cx="11125200" cy="59055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66750" y="588645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B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850" dirty="0"/>
          </a:p>
        </p:txBody>
      </p:sp>
      <p:sp>
        <p:nvSpPr>
          <p:cNvPr id="48" name="Text 43"/>
          <p:cNvSpPr txBox="1"/>
          <p:nvPr/>
        </p:nvSpPr>
        <p:spPr>
          <a:xfrm>
            <a:off x="2152650" y="5943600"/>
            <a:ext cx="9353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Growth rests on one market as the levy (£925 per student from 2028) and an 18-month Graduate Route (from 2027) arrive. Rebuilding home demand is resilience.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2133600" cy="228600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AND SUBJECTS · HESA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MARKET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Postgraduate is more international than the sector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mix mirrors the market. Postgraduate leans further to non-EU, and three subject areas carry half the student body.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· HESA open data 2022/23 · CAH1 subject areas · UNI A PG shares as published (rounded)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533400" y="1447800"/>
            <a:ext cx="6096000" cy="45339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00" y="15811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DOMICILE MIX, 2022/23, %</a:t>
            </a:r>
            <a:endParaRPr lang="en-US" sz="8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66750" y="1771650"/>
          <a:ext cx="5829300" cy="3714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Read note"/>
          <p:cNvSpPr/>
          <p:nvPr/>
        </p:nvSpPr>
        <p:spPr>
          <a:xfrm>
            <a:off x="723900" y="5600700"/>
            <a:ext cx="5715000" cy="266700"/>
          </a:xfrm>
          <a:prstGeom prst="rect">
            <a:avLst/>
          </a:prstGeom>
          <a:solidFill>
            <a:srgbClr val="F7F3C9"/>
          </a:solidFill>
          <a:ln w="9525">
            <a:solidFill>
              <a:srgbClr val="F7F3C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200" y="5600700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is under-represented at both levels (1% against 4%): </a:t>
            </a:r>
            <a:pPr indent="0" marL="0">
              <a:buNone/>
            </a:pPr>
            <a:r>
              <a:rPr lang="en-US" sz="10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but open market</a:t>
            </a:r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6819900" y="1447800"/>
            <a:ext cx="4838700" cy="236220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91350" y="1581150"/>
            <a:ext cx="447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SHARE: UNI A AGAINST THE UK (CAH1)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1350" y="1790700"/>
          <a:ext cx="4495800" cy="914400"/>
        </p:xfrm>
        <a:graphic>
          <a:graphicData uri="http://schemas.openxmlformats.org/drawingml/2006/table">
            <a:tbl>
              <a:tblPr/>
              <a:tblGrid>
                <a:gridCol w="3162300"/>
                <a:gridCol w="666750"/>
                <a:gridCol w="666750"/>
              </a:tblGrid>
              <a:tr h="2095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 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and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F5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5,305 students · 82% international PG · UK +17%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A6466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27%</a:t>
                      </a:r>
                      <a:endParaRPr lang="en-US" sz="16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20%</a:t>
                      </a:r>
                      <a:endParaRPr lang="en-US" sz="16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Subjects allied to medicine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F5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2,475 students · stable, home-led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13%</a:t>
                      </a:r>
                      <a:endParaRPr lang="en-US" sz="16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13%</a:t>
                      </a:r>
                      <a:endParaRPr lang="en-US" sz="16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F5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1,965 students · fastest-growing area, UK +23%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A6466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10%</a:t>
                      </a:r>
                      <a:endParaRPr lang="en-US" sz="16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6%</a:t>
                      </a:r>
                      <a:endParaRPr lang="en-US" sz="16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Card"/>
          <p:cNvSpPr/>
          <p:nvPr/>
        </p:nvSpPr>
        <p:spPr>
          <a:xfrm>
            <a:off x="6819900" y="3905250"/>
            <a:ext cx="4838700" cy="8572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991350" y="40386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UNDER-INDEXED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6991350" y="4229100"/>
            <a:ext cx="449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Law, social sciences, and engineering and physical sciences sit below national share: options to test, not gaps to fill.</a:t>
            </a:r>
            <a:endParaRPr lang="en-US" sz="1000" dirty="0"/>
          </a:p>
        </p:txBody>
      </p:sp>
      <p:sp>
        <p:nvSpPr>
          <p:cNvPr id="24" name="So what"/>
          <p:cNvSpPr/>
          <p:nvPr/>
        </p:nvSpPr>
        <p:spPr>
          <a:xfrm>
            <a:off x="6819900" y="4857750"/>
            <a:ext cx="4838700" cy="112395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72300" y="4953000"/>
            <a:ext cx="45339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what: lean into business and computing where UNI A over-indexes and the market grows; use allied health as the home-demand anchor.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0750"/>
            <a:ext cx="2571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45BA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Text 1"/>
          <p:cNvSpPr txBox="1"/>
          <p:nvPr/>
        </p:nvSpPr>
        <p:spPr>
          <a:xfrm>
            <a:off x="3429000" y="245745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667000"/>
            <a:ext cx="800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BF8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to do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3467100"/>
            <a:ext cx="800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moves, how to measure them, and the risks to watch.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8100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15 to 17</a:t>
            </a:r>
            <a:endParaRPr lang="en-US" sz="1200" dirty="0"/>
          </a:p>
        </p:txBody>
      </p:sp>
      <p:sp>
        <p:nvSpPr>
          <p:cNvPr id="7" name="Tracker"/>
          <p:cNvSpPr/>
          <p:nvPr/>
        </p:nvSpPr>
        <p:spPr>
          <a:xfrm>
            <a:off x="68580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Bottom line</a:t>
            </a:r>
            <a:endParaRPr lang="en-US" sz="1100" dirty="0"/>
          </a:p>
        </p:txBody>
      </p:sp>
      <p:sp>
        <p:nvSpPr>
          <p:cNvPr id="9" name="Tracker"/>
          <p:cNvSpPr/>
          <p:nvPr/>
        </p:nvSpPr>
        <p:spPr>
          <a:xfrm>
            <a:off x="287655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655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pipeline</a:t>
            </a:r>
            <a:endParaRPr lang="en-US" sz="1100" dirty="0"/>
          </a:p>
        </p:txBody>
      </p:sp>
      <p:sp>
        <p:nvSpPr>
          <p:cNvPr id="11" name="Tracker"/>
          <p:cNvSpPr/>
          <p:nvPr/>
        </p:nvSpPr>
        <p:spPr>
          <a:xfrm>
            <a:off x="506730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673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Where it leaks</a:t>
            </a:r>
            <a:endParaRPr lang="en-US" sz="1100" dirty="0"/>
          </a:p>
        </p:txBody>
      </p:sp>
      <p:sp>
        <p:nvSpPr>
          <p:cNvPr id="13" name="Tracker"/>
          <p:cNvSpPr/>
          <p:nvPr/>
        </p:nvSpPr>
        <p:spPr>
          <a:xfrm>
            <a:off x="7258050" y="5715000"/>
            <a:ext cx="2076450" cy="47625"/>
          </a:xfrm>
          <a:prstGeom prst="rect">
            <a:avLst/>
          </a:prstGeom>
          <a:solidFill>
            <a:srgbClr val="8C8784"/>
          </a:solidFill>
          <a:ln w="9525">
            <a:solidFill>
              <a:srgbClr val="8C87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805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market</a:t>
            </a:r>
            <a:endParaRPr lang="en-US" sz="1100" dirty="0"/>
          </a:p>
        </p:txBody>
      </p:sp>
      <p:sp>
        <p:nvSpPr>
          <p:cNvPr id="15" name="Tracker"/>
          <p:cNvSpPr/>
          <p:nvPr/>
        </p:nvSpPr>
        <p:spPr>
          <a:xfrm>
            <a:off x="9448800" y="5715000"/>
            <a:ext cx="2076450" cy="47625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488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What to do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Muhammad Mustafa Ajmal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A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2705100" cy="2286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THE INSIGHTS TOGETHER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WHAT TO DO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moves to lift enrolment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convert existing demand; three make the portfolio more resilient. Each has an owner and a measure.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· owners are suggested functions, to be agreed · evidence from slides 5 to 13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447800"/>
          <a:ext cx="11125200" cy="914400"/>
        </p:xfrm>
        <a:graphic>
          <a:graphicData uri="http://schemas.openxmlformats.org/drawingml/2006/table">
            <a:tbl>
              <a:tblPr/>
              <a:tblGrid>
                <a:gridCol w="476250"/>
                <a:gridCol w="2381250"/>
                <a:gridCol w="3048000"/>
                <a:gridCol w="1619250"/>
                <a:gridCol w="2552700"/>
                <a:gridCol w="104775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evidence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 of success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6466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1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Close the overseas post-offer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spc="100" kern="0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Unconditional-to-enrolment 29.5% overseas vs 40.9% home. +1 point ≈ 120 students.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International, Admissions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Overseas unconditional-to-enrolment; deposit and CAS 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6466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</a:t>
                      </a:r>
                      <a:endParaRPr lang="en-US" sz="1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Target overseas PG 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spc="100" kern="0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 of all applicants convert at 8.2%; three in four are lost after the offer turns unconditional.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International, Schools B and 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Overseas PG conversion by course; time from offer to deposit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6466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3</a:t>
                      </a:r>
                      <a:endParaRPr lang="en-US" sz="1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Report schools like-for-like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spc="100" kern="0" dirty="0">
                          <a:solidFill>
                            <a:srgbClr val="6B63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Removing PGCE moves School C from 10.0% (lowest) to 16.5% (highest).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Planning, School 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School conversion excluding PGCE; PGCE tracked as its own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6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6466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</a:t>
                      </a:r>
                      <a:endParaRPr lang="en-US" sz="1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Rationalise the long tail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spc="100" kern="0" dirty="0">
                          <a:solidFill>
                            <a:srgbClr val="6E2D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 of 535 courses enrol five or fewer and hold 6% of enrolments.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board, Deans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Courses below a viability threshold; enrolments per course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6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to two cycles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6466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5</a:t>
                      </a:r>
                      <a:endParaRPr lang="en-US" sz="1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8272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Grow home and part-time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spc="100" kern="0" dirty="0">
                          <a:solidFill>
                            <a:srgbClr val="B8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REBALANCE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enrolments -6.0% against a flat sector; part-time converts at 24.2%.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Marketing, Schools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share of enrolments; part-time and flexible applications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6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to three cycles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</a:tbl>
          </a:graphicData>
        </a:graphic>
      </p:graphicFrame>
      <p:sp>
        <p:nvSpPr>
          <p:cNvPr id="14" name="Band"/>
          <p:cNvSpPr/>
          <p:nvPr/>
        </p:nvSpPr>
        <p:spPr>
          <a:xfrm>
            <a:off x="533400" y="5886450"/>
            <a:ext cx="11125200" cy="5334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6750" y="5886450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B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2152650" y="5943600"/>
            <a:ext cx="9353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Start with moves 1 and 2: the same demand, more students, inside one cycle. Moves 3 to 5 make the growth durable.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33400" y="285750"/>
            <a:ext cx="1638300" cy="2286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3400" y="28575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AND WATCH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191500" y="3238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A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WHAT TO DO</a:t>
            </a:r>
            <a:endParaRPr lang="en-US" sz="850" dirty="0"/>
          </a:p>
        </p:txBody>
      </p:sp>
      <p:sp>
        <p:nvSpPr>
          <p:cNvPr id="5" name="Progress"/>
          <p:cNvSpPr/>
          <p:nvPr/>
        </p:nvSpPr>
        <p:spPr>
          <a:xfrm>
            <a:off x="1059180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6" name="Progress"/>
          <p:cNvSpPr/>
          <p:nvPr/>
        </p:nvSpPr>
        <p:spPr>
          <a:xfrm>
            <a:off x="1081087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7" name="Progress"/>
          <p:cNvSpPr/>
          <p:nvPr/>
        </p:nvSpPr>
        <p:spPr>
          <a:xfrm>
            <a:off x="11029950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8" name="Progress"/>
          <p:cNvSpPr/>
          <p:nvPr/>
        </p:nvSpPr>
        <p:spPr>
          <a:xfrm>
            <a:off x="11249025" y="381000"/>
            <a:ext cx="171450" cy="38100"/>
          </a:xfrm>
          <a:prstGeom prst="rect">
            <a:avLst/>
          </a:prstGeom>
          <a:solidFill>
            <a:srgbClr val="D3C7BF"/>
          </a:solidFill>
          <a:ln w="9525">
            <a:solidFill>
              <a:srgbClr val="D3C7BF"/>
            </a:solidFill>
            <a:prstDash val="solid"/>
          </a:ln>
        </p:spPr>
      </p:sp>
      <p:sp>
        <p:nvSpPr>
          <p:cNvPr id="9" name="Progress"/>
          <p:cNvSpPr/>
          <p:nvPr/>
        </p:nvSpPr>
        <p:spPr>
          <a:xfrm>
            <a:off x="11468100" y="381000"/>
            <a:ext cx="171450" cy="381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33400" y="590550"/>
            <a:ext cx="11125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to track, what to fix, what could change the picture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533400" y="1085850"/>
            <a:ext cx="11125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stage-based scorecard keeps every move measurable; three data fixes make it trustworthy.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" y="65722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and watch · baselines from slides 5 to 10 · policy as announced at the time of writing</a:t>
            </a:r>
            <a:endParaRPr lang="en-US" sz="900" dirty="0"/>
          </a:p>
        </p:txBody>
      </p:sp>
      <p:sp>
        <p:nvSpPr>
          <p:cNvPr id="13" name="Card"/>
          <p:cNvSpPr/>
          <p:nvPr/>
        </p:nvSpPr>
        <p:spPr>
          <a:xfrm>
            <a:off x="533400" y="1447800"/>
            <a:ext cx="3619500" cy="43243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4" name="Column header"/>
          <p:cNvSpPr/>
          <p:nvPr/>
        </p:nvSpPr>
        <p:spPr>
          <a:xfrm>
            <a:off x="533400" y="1447800"/>
            <a:ext cx="3619500" cy="571500"/>
          </a:xfrm>
          <a:prstGeom prst="rect">
            <a:avLst/>
          </a:prstGeom>
          <a:solidFill>
            <a:srgbClr val="45BABD"/>
          </a:solidFill>
          <a:ln w="9525">
            <a:solidFill>
              <a:srgbClr val="45BAB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15430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714500"/>
            <a:ext cx="3333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stage-based scorecard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4305300" y="1447800"/>
            <a:ext cx="3619500" cy="43243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18" name="Column header"/>
          <p:cNvSpPr/>
          <p:nvPr/>
        </p:nvSpPr>
        <p:spPr>
          <a:xfrm>
            <a:off x="4305300" y="1447800"/>
            <a:ext cx="3619500" cy="571500"/>
          </a:xfrm>
          <a:prstGeom prst="rect">
            <a:avLst/>
          </a:prstGeom>
          <a:solidFill>
            <a:srgbClr val="F1E967"/>
          </a:solidFill>
          <a:ln w="9525">
            <a:solidFill>
              <a:srgbClr val="F1E9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57700" y="15430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457700" y="1714500"/>
            <a:ext cx="3333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data improvements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8077200" y="1447800"/>
            <a:ext cx="3619500" cy="4324350"/>
          </a:xfrm>
          <a:prstGeom prst="rect">
            <a:avLst/>
          </a:prstGeom>
          <a:solidFill>
            <a:srgbClr val="FBF8F5"/>
          </a:solidFill>
          <a:ln w="9525">
            <a:solidFill>
              <a:srgbClr val="FBF8F5"/>
            </a:solidFill>
            <a:prstDash val="solid"/>
          </a:ln>
        </p:spPr>
      </p:sp>
      <p:sp>
        <p:nvSpPr>
          <p:cNvPr id="22" name="Column header"/>
          <p:cNvSpPr/>
          <p:nvPr/>
        </p:nvSpPr>
        <p:spPr>
          <a:xfrm>
            <a:off x="8077200" y="1447800"/>
            <a:ext cx="3619500" cy="57150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15430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714500"/>
            <a:ext cx="3333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827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Policy risks to the plan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52650"/>
          <a:ext cx="3314700" cy="914400"/>
        </p:xfrm>
        <a:graphic>
          <a:graphicData uri="http://schemas.openxmlformats.org/drawingml/2006/table">
            <a:tbl>
              <a:tblPr/>
              <a:tblGrid>
                <a:gridCol w="2381250"/>
                <a:gridCol w="933450"/>
              </a:tblGrid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rate, overseas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 unconditional, overseas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Unconditional to enrolled, overseas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Overseas PG 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School conversion, like-for-like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 to 16.5%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Courses with five or fewer enrolled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share of enrolments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827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Read note"/>
          <p:cNvSpPr/>
          <p:nvPr/>
        </p:nvSpPr>
        <p:spPr>
          <a:xfrm>
            <a:off x="685800" y="4476750"/>
            <a:ext cx="3314700" cy="476250"/>
          </a:xfrm>
          <a:prstGeom prst="rect">
            <a:avLst/>
          </a:prstGeom>
          <a:solidFill>
            <a:srgbClr val="F7F3C9"/>
          </a:solidFill>
          <a:ln w="9525">
            <a:solidFill>
              <a:srgbClr val="F7F3C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0100" y="4476750"/>
            <a:ext cx="3086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2024/25. Set targets against prior year and sector, not against the average.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457700" y="2190750"/>
            <a:ext cx="3314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Resolve unassessed fee status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4,038 applicants (6.5%) sit in "Other" with 4 enrolments, which distorts every rate.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457700" y="3314700"/>
            <a:ext cx="3314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Add trend and target lines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needs prior-year and target comparisons, so the dashboard shows change, not just a snapshot.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457700" y="4438650"/>
            <a:ext cx="3314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Benchmark externally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courses to CAH subjects and compare with UCAS and HESA, so performance is read against the market.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2190750"/>
            <a:ext cx="3314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student levy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£925 per international student from August 2028, a direct cost on the segment that drives growth.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3314700"/>
            <a:ext cx="3314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Route cut to 18 months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January 2027, weakening the post-study work offer that shapes overseas choice.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4438650"/>
            <a:ext cx="3314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8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visa compliance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lower visa refusal threshold makes market selection and agent quality part of conversion.</a:t>
            </a:r>
            <a:endParaRPr lang="en-US" sz="1100" dirty="0"/>
          </a:p>
        </p:txBody>
      </p:sp>
      <p:sp>
        <p:nvSpPr>
          <p:cNvPr id="34" name="Band"/>
          <p:cNvSpPr/>
          <p:nvPr/>
        </p:nvSpPr>
        <p:spPr>
          <a:xfrm>
            <a:off x="533400" y="5886450"/>
            <a:ext cx="11125200" cy="533400"/>
          </a:xfrm>
          <a:prstGeom prst="rect">
            <a:avLst/>
          </a:prstGeom>
          <a:solidFill>
            <a:srgbClr val="282727"/>
          </a:solidFill>
          <a:ln w="9525">
            <a:solidFill>
              <a:srgbClr val="28272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6750" y="5886450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B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2152650" y="5943600"/>
            <a:ext cx="9353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the stage-by-stage conversion view into the admissions dashboard, so every move above has a live measure.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953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B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0485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BF8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and data notes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1925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66900"/>
            <a:ext cx="342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Portfolio Dashboard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2024/25 cycle snapshot: 1,627 rows by school, course, mode, fee status and level (Power BI).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 open data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statistical releases, 2018/19 to 2022/23, for sector comparison, domicile mix and CAH1 subjects.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00550" y="161925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400550" y="1866900"/>
            <a:ext cx="342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rate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offers ÷ applicants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unconditional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unconditional offers ÷ offers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of unconditional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enrolments ÷ unconditional offers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enrolments ÷ applicants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Like-for-like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excluding unassessed fee status, or PGCE for school comparisons, as stated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15300" y="161925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1E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115300" y="1866900"/>
            <a:ext cx="342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Snapshot.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Conditional offers may still convert after it was taken.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 trends.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Five-year values on slide 12 are approximate, read from the published series; growth rates are as published.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4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portfolio use: institution shown as UNI A, schools as A to E.</a:t>
            </a:r>
            <a:endParaRPr lang="en-US" sz="1300" dirty="0"/>
          </a:p>
        </p:txBody>
      </p:sp>
      <p:sp>
        <p:nvSpPr>
          <p:cNvPr id="10" name="Closing rule"/>
          <p:cNvSpPr/>
          <p:nvPr/>
        </p:nvSpPr>
        <p:spPr>
          <a:xfrm>
            <a:off x="685800" y="5676900"/>
            <a:ext cx="1905000" cy="38100"/>
          </a:xfrm>
          <a:prstGeom prst="rect">
            <a:avLst/>
          </a:prstGeom>
          <a:solidFill>
            <a:srgbClr val="FD5D76"/>
          </a:solidFill>
          <a:ln w="9525">
            <a:solidFill>
              <a:srgbClr val="FD5D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60007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D5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Muhammad Mustafa Ajmal · Data and strategy portfolio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20000" y="60198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5BA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muhammadmustafa-data.github.io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4750" y="6572250"/>
            <a:ext cx="32385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A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missions Insight">
  <a:themeElements>
    <a:clrScheme name="Admissions Insight">
      <a:dk1>
        <a:srgbClr val="282727"/>
      </a:dk1>
      <a:lt1>
        <a:srgbClr val="FBF8F5"/>
      </a:lt1>
      <a:dk2>
        <a:srgbClr val="1A6466"/>
      </a:dk2>
      <a:lt2>
        <a:srgbClr val="EDE1DA"/>
      </a:lt2>
      <a:accent1>
        <a:srgbClr val="45BABD"/>
      </a:accent1>
      <a:accent2>
        <a:srgbClr val="FD5D76"/>
      </a:accent2>
      <a:accent3>
        <a:srgbClr val="F1E967"/>
      </a:accent3>
      <a:accent4>
        <a:srgbClr val="A357BC"/>
      </a:accent4>
      <a:accent5>
        <a:srgbClr val="B8233F"/>
      </a:accent5>
      <a:accent6>
        <a:srgbClr val="5F5A57"/>
      </a:accent6>
      <a:hlink>
        <a:srgbClr val="1A6466"/>
      </a:hlink>
      <a:folHlink>
        <a:srgbClr val="6E2D86"/>
      </a:folHlink>
    </a:clrScheme>
    <a:fontScheme name="Admissions Insight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Organisational Strategy Use Case: From pipeline data to portfolio decisions</dc:title>
  <dc:subject>PptxGenJS Presentation</dc:subject>
  <dc:creator>Muhammad Mustafa Ajmal</dc:creator>
  <cp:lastModifiedBy>Muhammad Mustafa Ajmal</cp:lastModifiedBy>
  <cp:revision>1</cp:revision>
  <dcterms:created xsi:type="dcterms:W3CDTF">2026-10-27T16:35:02Z</dcterms:created>
  <dcterms:modified xsi:type="dcterms:W3CDTF">2026-10-27T16:35:02Z</dcterms:modified>
</cp:coreProperties>
</file>